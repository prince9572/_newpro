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Lato"/>
      <p:regular r:id="rId201314"/>
    </p:embeddedFont>
    <p:embeddedFont>
      <p:font typeface="Lato Bold"/>
      <p:regular r:id="rId201315"/>
    </p:embeddedFont>
    <p:embeddedFont>
      <p:font typeface="Lato Black"/>
      <p:regular r:id="rId2013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DD6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ECE6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image" Target="../media/image-2-7.png"/><Relationship Id="rId8" Type="http://schemas.openxmlformats.org/officeDocument/2006/relationships/image" Target="../media/image-2-8.svg"/><Relationship Id="rId9" Type="http://schemas.openxmlformats.org/officeDocument/2006/relationships/image" Target="../media/image-2-9.png"/><Relationship Id="rId10" Type="http://schemas.openxmlformats.org/officeDocument/2006/relationships/image" Target="../media/image-2-10.sv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1164431"/>
            <a:ext cx="6296860" cy="23625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Aerodynamic and Aero‑Thermal Characterisation of the Agni Missile Series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61475" y="3602633"/>
            <a:ext cx="629686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 A CFD‑Based Case Study of Hypersonic Flight and Re‑Entry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61475" y="4181376"/>
            <a:ext cx="6296860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    Student: Rahul Kumar · Roll No: BTE/2023/045     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Department of Aerospace Engineering · Indian Institute of Technology (Example)     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Guided by: Prof. S. R. Iyer     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Academic Year: 2025–26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41635"/>
            <a:ext cx="10868745" cy="553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4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Aim &amp; Objectives</a:t>
            </a:r>
            <a:endParaRPr lang="en-US" sz="3450" dirty="0"/>
          </a:p>
        </p:txBody>
      </p:sp>
      <p:sp>
        <p:nvSpPr>
          <p:cNvPr id="3" name="Shape 1"/>
          <p:cNvSpPr/>
          <p:nvPr/>
        </p:nvSpPr>
        <p:spPr>
          <a:xfrm>
            <a:off x="661475" y="1427559"/>
            <a:ext cx="398651" cy="398661"/>
          </a:xfrm>
          <a:prstGeom prst="roundRect">
            <a:avLst>
              <a:gd name="adj" fmla="val 6668"/>
            </a:avLst>
          </a:prstGeom>
          <a:solidFill>
            <a:srgbClr val="E5DFD2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27900" y="1493937"/>
            <a:ext cx="265800" cy="26580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26214" y="1488380"/>
            <a:ext cx="10304006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Primary Aim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226214" y="1864916"/>
            <a:ext cx="10304006" cy="274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3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Investigate aerodynamic and aero‑thermal characteristics of the Agni family using CFD.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661475" y="2471738"/>
            <a:ext cx="398651" cy="398661"/>
          </a:xfrm>
          <a:prstGeom prst="roundRect">
            <a:avLst>
              <a:gd name="adj" fmla="val 6668"/>
            </a:avLst>
          </a:prstGeom>
          <a:solidFill>
            <a:srgbClr val="E5DFD2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27900" y="2538115"/>
            <a:ext cx="265800" cy="265807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26214" y="2532559"/>
            <a:ext cx="10304006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Aerodynamic Analysis</a:t>
            </a:r>
            <a:endParaRPr lang="en-US" sz="1700" dirty="0"/>
          </a:p>
        </p:txBody>
      </p:sp>
      <p:sp>
        <p:nvSpPr>
          <p:cNvPr id="10" name="Text 6"/>
          <p:cNvSpPr/>
          <p:nvPr/>
        </p:nvSpPr>
        <p:spPr>
          <a:xfrm>
            <a:off x="1226214" y="2909094"/>
            <a:ext cx="10304006" cy="274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3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Analyse factors influencing flight performance, drag, and stability at hypersonic speeds.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661475" y="3515916"/>
            <a:ext cx="398651" cy="398661"/>
          </a:xfrm>
          <a:prstGeom prst="roundRect">
            <a:avLst>
              <a:gd name="adj" fmla="val 6668"/>
            </a:avLst>
          </a:prstGeom>
          <a:solidFill>
            <a:srgbClr val="E5DFD2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27900" y="3582293"/>
            <a:ext cx="265800" cy="265807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226214" y="3576737"/>
            <a:ext cx="10304006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CFD Application</a:t>
            </a:r>
            <a:endParaRPr lang="en-US" sz="1700" dirty="0"/>
          </a:p>
        </p:txBody>
      </p:sp>
      <p:sp>
        <p:nvSpPr>
          <p:cNvPr id="14" name="Text 9"/>
          <p:cNvSpPr/>
          <p:nvPr/>
        </p:nvSpPr>
        <p:spPr>
          <a:xfrm>
            <a:off x="1226214" y="3953272"/>
            <a:ext cx="10304006" cy="274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3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Demonstrate CFD workflows for pressure, Mach and force prediction used in the programme.</a:t>
            </a:r>
            <a:endParaRPr lang="en-US" sz="1350" dirty="0"/>
          </a:p>
        </p:txBody>
      </p:sp>
      <p:sp>
        <p:nvSpPr>
          <p:cNvPr id="15" name="Shape 10"/>
          <p:cNvSpPr/>
          <p:nvPr/>
        </p:nvSpPr>
        <p:spPr>
          <a:xfrm>
            <a:off x="661475" y="4560094"/>
            <a:ext cx="398651" cy="398661"/>
          </a:xfrm>
          <a:prstGeom prst="roundRect">
            <a:avLst>
              <a:gd name="adj" fmla="val 6668"/>
            </a:avLst>
          </a:prstGeom>
          <a:solidFill>
            <a:srgbClr val="E5DFD2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27900" y="4626471"/>
            <a:ext cx="265800" cy="265807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226214" y="4620915"/>
            <a:ext cx="10304006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Re‑entry Challenges</a:t>
            </a:r>
            <a:endParaRPr lang="en-US" sz="1700" dirty="0"/>
          </a:p>
        </p:txBody>
      </p:sp>
      <p:sp>
        <p:nvSpPr>
          <p:cNvPr id="18" name="Text 12"/>
          <p:cNvSpPr/>
          <p:nvPr/>
        </p:nvSpPr>
        <p:spPr>
          <a:xfrm>
            <a:off x="1226214" y="4997450"/>
            <a:ext cx="10304006" cy="274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3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Study aerodynamic heating, heat‑flux prediction and thermal‑protection strategies.</a:t>
            </a:r>
            <a:endParaRPr lang="en-US" sz="1350" dirty="0"/>
          </a:p>
        </p:txBody>
      </p:sp>
      <p:sp>
        <p:nvSpPr>
          <p:cNvPr id="19" name="Shape 13"/>
          <p:cNvSpPr/>
          <p:nvPr/>
        </p:nvSpPr>
        <p:spPr>
          <a:xfrm>
            <a:off x="661475" y="5604272"/>
            <a:ext cx="398651" cy="398661"/>
          </a:xfrm>
          <a:prstGeom prst="roundRect">
            <a:avLst>
              <a:gd name="adj" fmla="val 6668"/>
            </a:avLst>
          </a:prstGeom>
          <a:solidFill>
            <a:srgbClr val="E5DFD2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27900" y="5670649"/>
            <a:ext cx="265800" cy="265807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226214" y="5665093"/>
            <a:ext cx="10304006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Materials &amp; Protection</a:t>
            </a:r>
            <a:endParaRPr lang="en-US" sz="1700" dirty="0"/>
          </a:p>
        </p:txBody>
      </p:sp>
      <p:sp>
        <p:nvSpPr>
          <p:cNvPr id="22" name="Text 15"/>
          <p:cNvSpPr/>
          <p:nvPr/>
        </p:nvSpPr>
        <p:spPr>
          <a:xfrm>
            <a:off x="1226214" y="6041628"/>
            <a:ext cx="10304006" cy="274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3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Examine documented thermal‑protection technologies and carbon‑composite usage.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1486892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Introduction to the Agni Missile Series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5233360" y="2951659"/>
            <a:ext cx="6296860" cy="2419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    - Indigenous strategic missile programme developed by DRDO.     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- Aerodynamic design is central to high‑speed flight, trajectory accuracy and re‑entry survivability.     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- Key design considerations: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drag reduction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,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static &amp; dynamic stability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,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trajectory control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,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aerodynamic heating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, and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structural/payload protection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.     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- Agni‑Prime: advanced generation emphasising light weight, canisterisation and mobility.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224756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Agni‑Prime — Next Generation Ballistic Missile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391569"/>
            <a:ext cx="5203794" cy="29488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32776" y="2268934"/>
            <a:ext cx="5203794" cy="3194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        - Publicly documented: intermediate‑range ballistic missile (IRBM).         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- Range: up to approximately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2,000 km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.         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- Canisterised configuration; lightweight composite structure.         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- Road‑mobile and rail‑mobile launch capability for rapid deployment.         </a:t>
            </a:r>
            <a:endParaRPr lang="en-US" sz="1450" dirty="0"/>
          </a:p>
          <a:p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- Designed for operational mobility and reduced launch preparation time.       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Note: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“The Road Mobile Agni‑P has already been inducted into service after successful flight trials.”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1184473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Fundamentals of Missile Aerodynamics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61475" y="2649240"/>
            <a:ext cx="6296860" cy="3024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    - Lift: force perpendicular to flight direction; small but may arise from body/lifting surfaces.     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- Drag: retarding force opposing motion; increases strongly with dynamic pressure and wetted area.     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- Pitching moment: causes rotation about lateral axis; depends on CP relative to CG.     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- Aerodynamic forces depend on air density, velocity, reference area and aerodynamic coefficients (CD, CL, Cm).     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- Stability relationship: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CG → CP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separation governs static stability and trim characteristics.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144389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Hypersonic Flow and Shock‑Wave Effects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231132"/>
            <a:ext cx="5770220" cy="326985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899202" y="2353965"/>
            <a:ext cx="4637269" cy="3024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        - At high Mach numbers (hypersonic regime) air becomes highly compressible.         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- Strong bow shock forms upstream, causing abrupt rises in pressure, temperature and density.         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- Shock interactions modify surface loading and can induce flow separation.         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- Nose and forward regions experience concentrated compression and aerodynamic heating.         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- Design implication: shock‑induced loads and heating must be captured in CFD and structural design loops.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1631057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The Re‑Entry Challenge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61475" y="2505174"/>
            <a:ext cx="6296860" cy="27217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    Hypersonic Velocity → Shock Compression → Temperature Rise → Heat Flux → Thermal Stress → Structural Protection     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    - Re‑entry couples aerodynamic stability, drag management, and extreme thermal loads.     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- Documented case‑study notes report severe re‑entry environments with temperatures of approximately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3000°C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in peak regions (reported figure from supplied material).     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- Engineering focus: accurate heat‑flux prediction, transition modelling (laminar → turbulent), and thermal‑protection qualification.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66707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Computational Fluid Dynamics (CFD)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753816"/>
            <a:ext cx="4070744" cy="22244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98261" y="3796119"/>
            <a:ext cx="943229" cy="1283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80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Missile Geometry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3580074" y="3781646"/>
            <a:ext cx="943229" cy="1283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80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CFD Model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2416545" y="3786281"/>
            <a:ext cx="943229" cy="1283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80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Flow Simulation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5199726" y="2807593"/>
            <a:ext cx="6336745" cy="21169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        - Documented statement: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“Computational Fluid Dynamics was used to obtain aerodynamic design data for India’s Agni Missile programme.”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        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- CFD applications: flow‑field visualisation, pressure and Mach distributions, aerodynamic forces &amp; moments, high‑angle‑of‑attack studies, control‑surface aerodynamics, and aeroelastic assessment.         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- Notable contributors: DRDL and IISc CFD research groups participated in computational efforts documented in supplied material.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69317"/>
            <a:ext cx="10868745" cy="581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CFD Methods Used for Aerodynamic Analysis</a:t>
            </a:r>
            <a:endParaRPr lang="en-US" sz="3650" dirty="0"/>
          </a:p>
        </p:txBody>
      </p:sp>
      <p:sp>
        <p:nvSpPr>
          <p:cNvPr id="3" name="Text 1"/>
          <p:cNvSpPr/>
          <p:nvPr/>
        </p:nvSpPr>
        <p:spPr>
          <a:xfrm>
            <a:off x="661475" y="1517055"/>
            <a:ext cx="1147833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4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    Table summarising the documented computational approaches and purposes.   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61475" y="2018308"/>
            <a:ext cx="10868745" cy="3769122"/>
          </a:xfrm>
          <a:prstGeom prst="roundRect">
            <a:avLst>
              <a:gd name="adj" fmla="val 740"/>
            </a:avLst>
          </a:prstGeom>
          <a:noFill/>
          <a:ln w="635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67825" y="2024658"/>
            <a:ext cx="10856046" cy="52764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853954" y="2140843"/>
            <a:ext cx="457674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4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CFD Method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5199528" y="2140843"/>
            <a:ext cx="674789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4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Purpose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67825" y="2552303"/>
            <a:ext cx="10856046" cy="527645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853954" y="2668488"/>
            <a:ext cx="457674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4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3‑D Euler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5199528" y="2668488"/>
            <a:ext cx="674789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4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High‑speed inviscid flow analysis; shock capture and initial pressure loading.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67825" y="3079948"/>
            <a:ext cx="10856046" cy="82292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853954" y="3196134"/>
            <a:ext cx="457674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4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Navier–Stokes / RANS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5199528" y="3196134"/>
            <a:ext cx="6138312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4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Viscous flow, boundary‑layer prediction, aerodynamic characterisation and force estimation.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667825" y="3902869"/>
            <a:ext cx="10856046" cy="82292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853954" y="4019054"/>
            <a:ext cx="457674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4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Mach Distribution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5199528" y="4019054"/>
            <a:ext cx="6138312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4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Assess local supersonic/hypersonic regions and shock locations over body surfaces.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667825" y="4725789"/>
            <a:ext cx="10856046" cy="52764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853954" y="4841974"/>
            <a:ext cx="457674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4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Pressure Distribution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5199528" y="4841974"/>
            <a:ext cx="674789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4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Surface loading maps for structural design and moment calculations.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667825" y="5253434"/>
            <a:ext cx="10856046" cy="527645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853954" y="5369620"/>
            <a:ext cx="457674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4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Forces &amp; Moments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5199528" y="5369620"/>
            <a:ext cx="674789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4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Performance and stability analysis across flight envelopes.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661475" y="5993408"/>
            <a:ext cx="1147833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4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    - Documented computational systems: </a:t>
            </a:r>
            <a:pPr algn="l" indent="0" marL="0">
              <a:lnSpc>
                <a:spcPct val="132000"/>
              </a:lnSpc>
              <a:buNone/>
            </a:pPr>
            <a:r>
              <a:rPr lang="en-US" sz="14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KFSG</a:t>
            </a:r>
            <a:pPr algn="l" indent="0" marL="0">
              <a:lnSpc>
                <a:spcPct val="132000"/>
              </a:lnSpc>
              <a:buNone/>
            </a:pPr>
            <a:r>
              <a:rPr lang="en-US" sz="14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(upwind finite‑volume Euler solver) and </a:t>
            </a:r>
            <a:pPr algn="l" indent="0" marL="0">
              <a:lnSpc>
                <a:spcPct val="132000"/>
              </a:lnSpc>
              <a:buNone/>
            </a:pPr>
            <a:r>
              <a:rPr lang="en-US" sz="14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CERANS</a:t>
            </a:r>
            <a:pPr algn="l" indent="0" marL="0">
              <a:lnSpc>
                <a:spcPct val="132000"/>
              </a:lnSpc>
              <a:buNone/>
            </a:pPr>
            <a:r>
              <a:rPr lang="en-US" sz="14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(3‑D RANS solver).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38188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Aero‑Thermal Protection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391569"/>
            <a:ext cx="5203794" cy="29488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32776" y="1782366"/>
            <a:ext cx="520379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        - Engineering chain: Aerodynamic compression → Heating → Heat‑flux → Material response → Structural integrity.         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- Key points:         </a:t>
            </a:r>
            <a:endParaRPr lang="en-US" sz="1450" dirty="0"/>
          </a:p>
        </p:txBody>
      </p:sp>
      <p:sp>
        <p:nvSpPr>
          <p:cNvPr id="5" name="Text 2"/>
          <p:cNvSpPr/>
          <p:nvPr/>
        </p:nvSpPr>
        <p:spPr>
          <a:xfrm>
            <a:off x="6332776" y="2859683"/>
            <a:ext cx="5203794" cy="2617589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Severe aerodynamic heating during peak re‑entry phases.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Laminar→turbulent transition strongly affects heat‑flux estimates.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Development and qualification of thermal‑protection systems are essential.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Documented materials: carbon‑composite re‑entry structures (Agni‑III) and external thermal protection for Agni‑IV composite motor casing.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6332776" y="5647333"/>
            <a:ext cx="581337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2026-08-22T18:00:02Z</dcterms:created>
  <dcterms:modified xsi:type="dcterms:W3CDTF">2026-08-22T18:00:02Z</dcterms:modified>
</cp:coreProperties>
</file>