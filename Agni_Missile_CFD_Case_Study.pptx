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gni_ppt/images/agni_laun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45375" y="0"/>
            <a:ext cx="48463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45375" y="5897880"/>
            <a:ext cx="4846320" cy="96012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573975" y="6080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Agni-Prime flight test, Dr. A.P.J. Abdul Kalam Island, Odisha  ·  Photo: PIB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7345375" y="0"/>
            <a:ext cx="0" cy="68580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68580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ENGINEERING PROJECT PRESENTATION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23444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Aerodynamic and Aero-Thermal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Characterisation of the Agni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85800" y="23317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Missile Series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713232" y="2999232"/>
            <a:ext cx="18288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1546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CFD-Based Case Study of Hypersonic Flight and Re-Entry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85800" y="41148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697480" y="41148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Saloni Kumari  &amp;  Khushi Singh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446227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697480" y="44622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Number]  &amp;  [Roll Number]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" y="480974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697480" y="48097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Name]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" y="515721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University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697480" y="51572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/ University Name]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85800" y="550468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697480" y="55046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[Guide's Name &amp; Designation]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" y="585216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697480" y="58521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[Academic Year]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investigates the aerodynamic and aero-thermal behaviour of the Agni missile series using documented CFD-based design practice.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029968" cy="3063240"/>
          </a:xfrm>
          <a:prstGeom prst="roundRect">
            <a:avLst>
              <a:gd name="adj" fmla="val 405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26517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408176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3816" y="342900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Aerodynamic Design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2104" y="411480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design principles of the Agni missile series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2331720"/>
            <a:ext cx="2029968" cy="3063240"/>
          </a:xfrm>
          <a:prstGeom prst="roundRect">
            <a:avLst>
              <a:gd name="adj" fmla="val 405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6517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08376" y="342900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Stability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26664" y="411480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factors influencing performance and stability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331720"/>
            <a:ext cx="2029968" cy="3063240"/>
          </a:xfrm>
          <a:prstGeom prst="roundRect">
            <a:avLst>
              <a:gd name="adj" fmla="val 4054"/>
            </a:avLst>
          </a:prstGeom>
          <a:solidFill>
            <a:srgbClr val="1E2761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97296" y="2651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797296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02936" y="342900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CFD Applications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21224" y="411480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CFD in high-speed flow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2331720"/>
            <a:ext cx="2029968" cy="3063240"/>
          </a:xfrm>
          <a:prstGeom prst="roundRect">
            <a:avLst>
              <a:gd name="adj" fmla="val 405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26517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991856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97496" y="342900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Re-Entry Challenges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15784" y="411480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aerodynamic challenges during re-entry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464040" y="2331720"/>
            <a:ext cx="2029968" cy="3063240"/>
          </a:xfrm>
          <a:prstGeom prst="roundRect">
            <a:avLst>
              <a:gd name="adj" fmla="val 405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86416" y="26517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6416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92056" y="342900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Aero-Thermal Effects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10344" y="4114800"/>
            <a:ext cx="1737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thermal effects and protection strategies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Agni Missile Series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 is an indigenous strategic missile programme developed by DRDO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design is central to high-speed flight and re-entry performance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considerations govern every stage of the flight envelope: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063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Reduction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306324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063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Dynamic Stability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6616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Trajectory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356616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56616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Heating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6908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&amp; Payload Protection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5257800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57800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Agni-Prime  </a:t>
            </a:r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introduced as an advanced, next-generation member of the Agni family.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1600200"/>
            <a:ext cx="4480560" cy="4572000"/>
          </a:xfrm>
          <a:prstGeom prst="roundRect">
            <a:avLst>
              <a:gd name="adj" fmla="val 2041"/>
            </a:avLst>
          </a:prstGeom>
          <a:solidFill>
            <a:srgbClr val="141A3D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0" y="1600200"/>
            <a:ext cx="4480560" cy="1524000"/>
          </a:xfrm>
          <a:prstGeom prst="rect">
            <a:avLst/>
          </a:prstGeom>
          <a:solidFill>
            <a:srgbClr val="10143A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Exo-atmosphere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3124200"/>
            <a:ext cx="4480560" cy="1524000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3215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Atmosphere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4648200"/>
            <a:ext cx="4480560" cy="1524000"/>
          </a:xfrm>
          <a:prstGeom prst="rect">
            <a:avLst/>
          </a:prstGeom>
          <a:solidFill>
            <a:srgbClr val="26306B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4739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Atmosphere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80960" y="2194560"/>
            <a:ext cx="2926080" cy="3520440"/>
          </a:xfrm>
          <a:prstGeom prst="line">
            <a:avLst/>
          </a:prstGeom>
          <a:noFill/>
          <a:ln w="28575">
            <a:solidFill>
              <a:srgbClr val="CADCF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rot="8100000">
            <a:off x="7498080" y="2039112"/>
            <a:ext cx="292608" cy="29260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5669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→ Trajectory → Re-Entry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Agni-Prime — Next-Generation Ballistic Missile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8308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" y="203911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Intermediate-range ballistic missile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78308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5112" y="203911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approximately 2,000 km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7889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" y="304495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Canisterised design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269748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7889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25112" y="304495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composite structure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79476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" y="405079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Road-mobile and rail-mobile launch capability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3703320"/>
            <a:ext cx="3246120" cy="868680"/>
          </a:xfrm>
          <a:prstGeom prst="roundRect">
            <a:avLst>
              <a:gd name="adj" fmla="val 7368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379476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25112" y="405079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rapid deployment and mobility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67208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37760"/>
            <a:ext cx="6263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Road Mobile Agni-P has already been inducted into service after successful flight trials.”</a:t>
            </a:r>
            <a:endParaRPr lang="en-US" sz="1350" dirty="0"/>
          </a:p>
        </p:txBody>
      </p:sp>
      <p:pic>
        <p:nvPicPr>
          <p:cNvPr id="24" name="Image 0" descr="/home/claude/agni_ppt/images/agni_laun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2615" y="868680"/>
            <a:ext cx="3566160" cy="53492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2615" y="868680"/>
            <a:ext cx="3566160" cy="534924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Aerodynamic Forces During Flight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278892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8503920" y="2788920"/>
            <a:ext cx="685800" cy="566928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596896" y="2642616"/>
            <a:ext cx="146304" cy="8595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2953512"/>
            <a:ext cx="1005840" cy="237744"/>
          </a:xfrm>
          <a:prstGeom prst="leftArrow">
            <a:avLst/>
          </a:prstGeom>
          <a:solidFill>
            <a:srgbClr val="B4522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29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04688" y="1828800"/>
            <a:ext cx="237744" cy="777240"/>
          </a:xfrm>
          <a:prstGeom prst="upArrow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54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2953512"/>
            <a:ext cx="1005840" cy="237744"/>
          </a:xfrm>
          <a:prstGeom prst="rightArrow">
            <a:avLst/>
          </a:prstGeom>
          <a:solidFill>
            <a:srgbClr val="4B6FBF"/>
          </a:solidFill>
          <a:ln/>
        </p:spPr>
      </p:sp>
      <p:sp>
        <p:nvSpPr>
          <p:cNvPr id="12" name="Text 10"/>
          <p:cNvSpPr/>
          <p:nvPr/>
        </p:nvSpPr>
        <p:spPr>
          <a:xfrm>
            <a:off x="9006840" y="3429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DIRECTION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47488" y="301752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1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367588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14846" y="3017520"/>
            <a:ext cx="109728" cy="109728"/>
          </a:xfrm>
          <a:prstGeom prst="ellipse">
            <a:avLst/>
          </a:prstGeom>
          <a:solidFill>
            <a:srgbClr val="B4522F"/>
          </a:solidFill>
          <a:ln w="12700">
            <a:solidFill>
              <a:srgbClr val="141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1966" y="367588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0" y="39959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 → CP relative position governs static stability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516636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 </a:t>
            </a:r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opposite to the direction of motion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5321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 </a:t>
            </a:r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perpendicular to the flight direction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89788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forces  </a:t>
            </a:r>
            <a:pPr indent="0" marL="0"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air density, velocity, reference area and aerodynamic coefficients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Hypersonic Flow and Shock-Wave Effects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high Mach numbers, airflow becomes highly compressible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bow shock develops around the vehicle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waves cause rapid changes in pressure, temperature and density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nose region experiences strong compression and aerodynamic heating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3374136"/>
            <a:ext cx="14173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8686800" y="3374136"/>
            <a:ext cx="548640" cy="566928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732520" y="2240280"/>
            <a:ext cx="1828800" cy="1417320"/>
          </a:xfrm>
          <a:prstGeom prst="line">
            <a:avLst/>
          </a:prstGeom>
          <a:noFill/>
          <a:ln w="31750">
            <a:solidFill>
              <a:srgbClr val="B452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3657600"/>
            <a:ext cx="1828800" cy="1417320"/>
          </a:xfrm>
          <a:prstGeom prst="line">
            <a:avLst/>
          </a:prstGeom>
          <a:noFill/>
          <a:ln w="31750">
            <a:solidFill>
              <a:srgbClr val="B452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35640" y="2697480"/>
            <a:ext cx="822960" cy="182880"/>
          </a:xfrm>
          <a:prstGeom prst="leftArrow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35640" y="3566160"/>
            <a:ext cx="822960" cy="182880"/>
          </a:xfrm>
          <a:prstGeom prst="leftArrow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835640" y="4434840"/>
            <a:ext cx="822960" cy="182880"/>
          </a:xfrm>
          <a:prstGeom prst="leftArrow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Hypersonic 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8972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Shock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5669280"/>
            <a:ext cx="603504" cy="201168"/>
          </a:xfrm>
          <a:prstGeom prst="rect">
            <a:avLst/>
          </a:prstGeom>
          <a:solidFill>
            <a:srgbClr val="1B2354"/>
          </a:solidFill>
          <a:ln/>
        </p:spPr>
      </p:sp>
      <p:sp>
        <p:nvSpPr>
          <p:cNvPr id="15" name="Shape 13"/>
          <p:cNvSpPr/>
          <p:nvPr/>
        </p:nvSpPr>
        <p:spPr>
          <a:xfrm>
            <a:off x="6912864" y="5669280"/>
            <a:ext cx="603504" cy="201168"/>
          </a:xfrm>
          <a:prstGeom prst="rect">
            <a:avLst/>
          </a:prstGeom>
          <a:solidFill>
            <a:srgbClr val="3E5AA8"/>
          </a:solidFill>
          <a:ln/>
        </p:spPr>
      </p:sp>
      <p:sp>
        <p:nvSpPr>
          <p:cNvPr id="16" name="Shape 14"/>
          <p:cNvSpPr/>
          <p:nvPr/>
        </p:nvSpPr>
        <p:spPr>
          <a:xfrm>
            <a:off x="7516368" y="5669280"/>
            <a:ext cx="603504" cy="201168"/>
          </a:xfrm>
          <a:prstGeom prst="rect">
            <a:avLst/>
          </a:prstGeom>
          <a:solidFill>
            <a:srgbClr val="8B7FC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5669280"/>
            <a:ext cx="603504" cy="201168"/>
          </a:xfrm>
          <a:prstGeom prst="rect">
            <a:avLst/>
          </a:prstGeom>
          <a:solidFill>
            <a:srgbClr val="C77B5B"/>
          </a:solidFill>
          <a:ln/>
        </p:spPr>
      </p:sp>
      <p:sp>
        <p:nvSpPr>
          <p:cNvPr id="18" name="Shape 16"/>
          <p:cNvSpPr/>
          <p:nvPr/>
        </p:nvSpPr>
        <p:spPr>
          <a:xfrm>
            <a:off x="8723376" y="5669280"/>
            <a:ext cx="603504" cy="201168"/>
          </a:xfrm>
          <a:prstGeom prst="rect">
            <a:avLst/>
          </a:prstGeom>
          <a:solidFill>
            <a:srgbClr val="B4522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59070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59070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Re-Entry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714500" cy="82296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14401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Hypersonic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0028" y="1600200"/>
            <a:ext cx="1714500" cy="822960"/>
          </a:xfrm>
          <a:prstGeom prst="chevron">
            <a:avLst/>
          </a:prstGeom>
          <a:solidFill>
            <a:srgbClr val="B4522F"/>
          </a:solidFill>
          <a:ln/>
        </p:spPr>
      </p:sp>
      <p:sp>
        <p:nvSpPr>
          <p:cNvPr id="7" name="Text 5"/>
          <p:cNvSpPr/>
          <p:nvPr/>
        </p:nvSpPr>
        <p:spPr>
          <a:xfrm>
            <a:off x="2555748" y="1600200"/>
            <a:ext cx="14401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600200"/>
            <a:ext cx="1714500" cy="82296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79976" y="1600200"/>
            <a:ext cx="14401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58484" y="1600200"/>
            <a:ext cx="1714500" cy="822960"/>
          </a:xfrm>
          <a:prstGeom prst="chevron">
            <a:avLst/>
          </a:prstGeom>
          <a:solidFill>
            <a:srgbClr val="B4522F"/>
          </a:solidFill>
          <a:ln/>
        </p:spPr>
      </p:sp>
      <p:sp>
        <p:nvSpPr>
          <p:cNvPr id="11" name="Text 9"/>
          <p:cNvSpPr/>
          <p:nvPr/>
        </p:nvSpPr>
        <p:spPr>
          <a:xfrm>
            <a:off x="6204204" y="1600200"/>
            <a:ext cx="14401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82712" y="1600200"/>
            <a:ext cx="1714500" cy="82296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028432" y="1600200"/>
            <a:ext cx="14401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06940" y="1600200"/>
            <a:ext cx="1714500" cy="822960"/>
          </a:xfrm>
          <a:prstGeom prst="chevron">
            <a:avLst/>
          </a:prstGeom>
          <a:solidFill>
            <a:srgbClr val="B4522F"/>
          </a:solidFill>
          <a:ln/>
        </p:spPr>
      </p:sp>
      <p:sp>
        <p:nvSpPr>
          <p:cNvPr id="15" name="Text 13"/>
          <p:cNvSpPr/>
          <p:nvPr/>
        </p:nvSpPr>
        <p:spPr>
          <a:xfrm>
            <a:off x="9852660" y="1600200"/>
            <a:ext cx="15773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2697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Re-entry demands simultaneous management of aerodynamic and thermal-structural requirements: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2029968" cy="1005840"/>
          </a:xfrm>
          <a:prstGeom prst="roundRect">
            <a:avLst>
              <a:gd name="adj" fmla="val 636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00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Hypersonic aerodynamic stability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52928" y="3200400"/>
            <a:ext cx="2029968" cy="1005840"/>
          </a:xfrm>
          <a:prstGeom prst="roundRect">
            <a:avLst>
              <a:gd name="adj" fmla="val 636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3200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controlled trajectory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0056" y="3200400"/>
            <a:ext cx="2029968" cy="1005840"/>
          </a:xfrm>
          <a:prstGeom prst="roundRect">
            <a:avLst>
              <a:gd name="adj" fmla="val 636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3200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High-temperature structural survival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87184" y="3200400"/>
            <a:ext cx="2029968" cy="1005840"/>
          </a:xfrm>
          <a:prstGeom prst="roundRect">
            <a:avLst>
              <a:gd name="adj" fmla="val 636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78624" y="3200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protection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54312" y="3200400"/>
            <a:ext cx="2029968" cy="1005840"/>
          </a:xfrm>
          <a:prstGeom prst="roundRect">
            <a:avLst>
              <a:gd name="adj" fmla="val 6364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45752" y="3200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protection systems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52628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141A3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663440"/>
            <a:ext cx="10378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re-entry temperatures of approximately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0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3000°C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documented in publicly available case-study material for high-speed re-entry vehicles.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presented as a documented / publicly reported figure, not an exact universal surface temperature.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Fluid Dynamics (CFD)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“Computational Fluid Dynamics was used to obtain aerodynamic design data for India’s Agni Missile programme.”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is applied to study: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Flow fields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83280" y="3063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Pressure distributions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447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Mach-number distributions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34472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Aerodynamic forces &amp; moments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83133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High-angle-of-attack 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383133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Control-surface aerodynamics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215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High-speed flow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421538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Aeroelastic effects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CFD research involvement: </a:t>
            </a:r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 and IISc.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Design Data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48640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548640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96748" y="583844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2825496" y="548640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548640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36444" y="583844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4965192" y="548640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0056" y="548640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76140" y="583844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7104888" y="548640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548640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/ Mach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15836" y="583844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9244584" y="548640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9448" y="5486400"/>
            <a:ext cx="188366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CFD Methods Used for Aerodynamic Analysis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2834640"/>
        </p:xfrm>
        <a:graphic>
          <a:graphicData uri="http://schemas.openxmlformats.org/drawingml/2006/table">
            <a:tbl>
              <a:tblPr/>
              <a:tblGrid>
                <a:gridCol w="5417820"/>
                <a:gridCol w="54178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CFD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3-D Euler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High-speed inviscid flow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Navier–Stokes / RANS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Viscous flow and aerodynamic characterisation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behaviour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loading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 &amp; Moments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and stability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480060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956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DRDL Computational Systems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5285232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KFSG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upwind finite-volume Euler solver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CERANS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3-D RANS solver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Aero-Thermal Protection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60020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96748" y="190652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825496" y="160020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60020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36444" y="190652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965192" y="160020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60020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76140" y="190652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104888" y="160020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160020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15836" y="1906524"/>
            <a:ext cx="111191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9244584" y="160020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E7EE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1600200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697480"/>
            <a:ext cx="5394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aerodynamic heating occurs during high-speed flight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 of heat flux is essential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Laminar-to-turbulent transition affects heat-flux estimation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Thermal-protection technologies are developed and qualified for service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Carbon-composite re-entry structures documented for Agni-III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thermal protection developed for the Agni-IV composite motor casing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2697480"/>
            <a:ext cx="4983480" cy="857250"/>
          </a:xfrm>
          <a:prstGeom prst="rect">
            <a:avLst/>
          </a:prstGeom>
          <a:solidFill>
            <a:srgbClr val="B452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697480"/>
            <a:ext cx="443484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554730"/>
            <a:ext cx="4983480" cy="857250"/>
          </a:xfrm>
          <a:prstGeom prst="rect">
            <a:avLst/>
          </a:prstGeom>
          <a:solidFill>
            <a:srgbClr val="C77B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554730"/>
            <a:ext cx="443484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Protection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4411980"/>
            <a:ext cx="4983480" cy="857250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411980"/>
            <a:ext cx="443484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5269230"/>
            <a:ext cx="4983480" cy="857250"/>
          </a:xfrm>
          <a:prstGeom prst="rect">
            <a:avLst/>
          </a:prstGeom>
          <a:solidFill>
            <a:srgbClr val="141A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5269230"/>
            <a:ext cx="443484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658600" y="2788920"/>
            <a:ext cx="274320" cy="32461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Publicly Reported Flight Tests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1264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0782" y="2020824"/>
            <a:ext cx="164592" cy="164592"/>
          </a:xfrm>
          <a:prstGeom prst="ellipse">
            <a:avLst/>
          </a:prstGeom>
          <a:solidFill>
            <a:srgbClr val="B452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0118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April 2024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0118" y="2606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Agni-Prime flight test from Dr. A.P.J. Abdul Kalam Island, Odisha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39082" y="2020824"/>
            <a:ext cx="164592" cy="164592"/>
          </a:xfrm>
          <a:prstGeom prst="ellipse">
            <a:avLst/>
          </a:prstGeom>
          <a:solidFill>
            <a:srgbClr val="B452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8418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September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8418" y="2606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Agni-Prime launch from a rail-based mobile launcher system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September 2025 — Rail-Based Launch Highlights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by DRDO with Strategic Forces Command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scenario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Rail-based mobile launcher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mobility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reaction capability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capability with reduced visibility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objectives successfully achieved</a:t>
            </a:r>
            <a:endParaRPr lang="en-US" sz="1100" dirty="0"/>
          </a:p>
        </p:txBody>
      </p:sp>
      <p:pic>
        <p:nvPicPr>
          <p:cNvPr id="13" name="Image 0" descr="/home/claude/agni_ppt/images/agni_laun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73975" y="502920"/>
            <a:ext cx="4114800" cy="6172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573975" y="502920"/>
            <a:ext cx="4114800" cy="6172200"/>
          </a:xfrm>
          <a:prstGeom prst="rect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Technologies Work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2020" y="188976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1748" y="21686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31748" y="21686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24940" y="188976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30980" y="2287524"/>
            <a:ext cx="472440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549140" y="188976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8868" y="21686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58868" y="21686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52060" y="188976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Compressible /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Hypersonic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58100" y="2287524"/>
            <a:ext cx="472440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8176260" y="188976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5988" y="21686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85988" y="21686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79180" y="188976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Shock-Wave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25584" y="2895600"/>
            <a:ext cx="164592" cy="48768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76260" y="342900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5988" y="37078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85988" y="37078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79180" y="34290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58100" y="3826764"/>
            <a:ext cx="472440" cy="164592"/>
          </a:xfrm>
          <a:prstGeom prst="leftArrow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9140" y="342900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8868" y="37078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58868" y="37078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52060" y="34290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Forces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30980" y="3826764"/>
            <a:ext cx="472440" cy="164592"/>
          </a:xfrm>
          <a:prstGeom prst="leftArrow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922020" y="342900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1748" y="37078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1031748" y="37078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24940" y="34290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Aero-Thermal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71344" y="4434840"/>
            <a:ext cx="164592" cy="48768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34" name="Shape 32"/>
          <p:cNvSpPr/>
          <p:nvPr/>
        </p:nvSpPr>
        <p:spPr>
          <a:xfrm>
            <a:off x="922020" y="49682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1748" y="52471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31748" y="52471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24940" y="49682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030980" y="5366004"/>
            <a:ext cx="472440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39" name="Shape 37"/>
          <p:cNvSpPr/>
          <p:nvPr/>
        </p:nvSpPr>
        <p:spPr>
          <a:xfrm>
            <a:off x="4549140" y="49682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7EEFB"/>
          </a:solidFill>
          <a:ln w="9525">
            <a:solidFill>
              <a:srgbClr val="D8DC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58868" y="52471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4658868" y="52471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52060" y="49682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58100" y="5366004"/>
            <a:ext cx="472440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44" name="Shape 42"/>
          <p:cNvSpPr/>
          <p:nvPr/>
        </p:nvSpPr>
        <p:spPr>
          <a:xfrm>
            <a:off x="8176260" y="496824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85988" y="52471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8285988" y="52471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79180" y="496824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High-Speed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from the Case Study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E7EE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367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Hypersonic aerodynamic design is critical for high-speed vehicles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329184" cy="329184"/>
          </a:xfrm>
          <a:prstGeom prst="ellipse">
            <a:avLst/>
          </a:prstGeom>
          <a:solidFill>
            <a:srgbClr val="E7EEFB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63677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has a documented role in obtaining aerodynamic design data for the Agni programme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50008"/>
            <a:ext cx="329184" cy="329184"/>
          </a:xfrm>
          <a:prstGeom prst="ellipse">
            <a:avLst/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50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29514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waves strongly influence pressure and temperature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350008"/>
            <a:ext cx="329184" cy="329184"/>
          </a:xfrm>
          <a:prstGeom prst="ellipse">
            <a:avLst/>
          </a:prstGeom>
          <a:solidFill>
            <a:srgbClr val="E7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350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229514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and thermal design are closely interconnected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008376"/>
            <a:ext cx="329184" cy="329184"/>
          </a:xfrm>
          <a:prstGeom prst="ellipse">
            <a:avLst/>
          </a:prstGeom>
          <a:solidFill>
            <a:srgbClr val="E7EE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08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95351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and Navier–Stokes / RANS methods support flow and aerodynamic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008376"/>
            <a:ext cx="329184" cy="329184"/>
          </a:xfrm>
          <a:prstGeom prst="ellipse">
            <a:avLst/>
          </a:prstGeom>
          <a:solidFill>
            <a:srgbClr val="E7EEFB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008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295351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Laminar–turbulent transition is important for heat-flux prediction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666744"/>
            <a:ext cx="329184" cy="329184"/>
          </a:xfrm>
          <a:prstGeom prst="ellipse">
            <a:avLst/>
          </a:prstGeom>
          <a:solidFill>
            <a:srgbClr val="E7EEF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3611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protection and structural design cannot be separated from aerodynamic design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10835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440680"/>
            <a:ext cx="10378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Takeaway   </a:t>
            </a:r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hypersonic re-entry vehicles, aerodynamic performance and thermal survivability must be designed together.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gni_ppt/images/agni_laun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41A3D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89611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Agni programme represents an important Indian case of integrating: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22768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1945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27340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6517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" y="31912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1089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Shock-Wave Analysis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" y="36484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5661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Aero-Thermal Engineering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31520" y="41056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0233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Design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31520" y="4562856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44805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Protection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85800" y="521208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222B5C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212080"/>
            <a:ext cx="6492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use of indigenous CFD and re-entry technology demonstrates the importance of computational and multidisciplinary engineering in high-speed aerospace systems.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94767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74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Information Bureau (PIB), Government of India — Agni-Prime flight-test releases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414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 — Public information on the Agni missile programme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815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0837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IISc — Published material on CFD research related to the Agni programme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6484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753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project and documentation material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10515600" cy="0"/>
          </a:xfrm>
          <a:prstGeom prst="line">
            <a:avLst/>
          </a:prstGeom>
          <a:noFill/>
          <a:ln w="12700">
            <a:solidFill>
              <a:srgbClr val="3A42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&amp; Aero-Thermal Characterisation of the Agni Missile Series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2026-08-22T18:21:49Z</dcterms:created>
  <dcterms:modified xsi:type="dcterms:W3CDTF">2026-08-22T18:21:49Z</dcterms:modified>
</cp:coreProperties>
</file>