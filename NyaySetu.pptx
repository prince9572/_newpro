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Plus Jakarta Sans"/>
      <ns0:bold ns1:id="rIdFont19"/>
      <ns0:regular ns1:id="rIdFont20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0fecc86e-6a76-405b-a2fd-9e1e9d26310f.fntdata" /><ns0:Relationship Id="rIdFont20" Type="http://schemas.openxmlformats.org/officeDocument/2006/relationships/font" Target="fonts/862834cb-79c8-465b-ba92-bac8463957a7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153792"/>
            <a:ext cx="1097280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153792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2075557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B.TECH PROJECT FIRST -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399407"/>
            <a:ext cx="1158240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F8FAFC"/>
                </a:solidFill>
                <a:latin typeface="Plus Jakarta Sans"/>
              </a:rPr>
              <a:t>NYAYSETU: AN AI-ASSISTED LEGAL SUGGESTION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610867"/>
            <a:ext cx="115824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94A3B8"/>
                </a:solidFill>
                <a:latin typeface="Plus Jakarta Sans"/>
              </a:rPr>
              <a:t>Department of Computer Science &amp; Engineering | Sharda School of Engineering and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391917"/>
            <a:ext cx="798909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1F5F9"/>
                </a:solidFill>
                <a:latin typeface="Plus Jakarta Sans"/>
              </a:rPr>
              <a:t>Presented by: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610992"/>
            <a:ext cx="7989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Anupam Kumar Singh (2023305089) • Akshay Pratap Singh (2023409091) • Prince Kumar (2023393156)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5337" y="4391917"/>
            <a:ext cx="316706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1125" i="0" u="none">
                <a:solidFill>
                  <a:srgbClr val="F1F5F9"/>
                </a:solidFill>
                <a:latin typeface="Plus Jakarta Sans"/>
              </a:rPr>
              <a:t>Under Supervision of: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5337" y="4610992"/>
            <a:ext cx="3167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1050" i="0" u="none">
                <a:solidFill>
                  <a:srgbClr val="94A3B8"/>
                </a:solidFill>
                <a:latin typeface="Plus Jakarta Sans"/>
              </a:rPr>
              <a:t>Prof. (Dr.) Velayudham Sathiyasuntharam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24100"/>
            <a:ext cx="3555950" cy="590550"/>
          </a:xfrm>
          <a:prstGeom prst="roundRect">
            <a:avLst>
              <a:gd name="adj" fmla="val 1935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17950" y="2324100"/>
            <a:ext cx="3555950" cy="590550"/>
          </a:xfrm>
          <a:prstGeom prst="roundRect">
            <a:avLst>
              <a:gd name="adj" fmla="val 1935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2324100"/>
            <a:ext cx="3556099" cy="590550"/>
          </a:xfrm>
          <a:prstGeom prst="roundRect">
            <a:avLst>
              <a:gd name="adj" fmla="val 1935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3067050"/>
            <a:ext cx="3555950" cy="590550"/>
          </a:xfrm>
          <a:prstGeom prst="roundRect">
            <a:avLst>
              <a:gd name="adj" fmla="val 1935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17950" y="3067050"/>
            <a:ext cx="3555950" cy="590550"/>
          </a:xfrm>
          <a:prstGeom prst="roundRect">
            <a:avLst>
              <a:gd name="adj" fmla="val 1935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26300" y="3067050"/>
            <a:ext cx="3556099" cy="590550"/>
          </a:xfrm>
          <a:prstGeom prst="roundRect">
            <a:avLst>
              <a:gd name="adj" fmla="val 1935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9600" y="3810000"/>
            <a:ext cx="3555950" cy="590550"/>
          </a:xfrm>
          <a:prstGeom prst="roundRect">
            <a:avLst>
              <a:gd name="adj" fmla="val 1935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17950" y="3810000"/>
            <a:ext cx="3555950" cy="590550"/>
          </a:xfrm>
          <a:prstGeom prst="roundRect">
            <a:avLst>
              <a:gd name="adj" fmla="val 1935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26300" y="3810000"/>
            <a:ext cx="3556099" cy="590550"/>
          </a:xfrm>
          <a:prstGeom prst="roundRect">
            <a:avLst>
              <a:gd name="adj" fmla="val 1935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9600" y="4552950"/>
            <a:ext cx="3555950" cy="590550"/>
          </a:xfrm>
          <a:prstGeom prst="roundRect">
            <a:avLst>
              <a:gd name="adj" fmla="val 1935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17950" y="4552950"/>
            <a:ext cx="3555950" cy="590550"/>
          </a:xfrm>
          <a:prstGeom prst="roundRect">
            <a:avLst>
              <a:gd name="adj" fmla="val 1935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600" y="2324100"/>
            <a:ext cx="38100" cy="5905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7950" y="2324100"/>
            <a:ext cx="38100" cy="5905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6300" y="2324100"/>
            <a:ext cx="38100" cy="5905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600" y="3067050"/>
            <a:ext cx="38100" cy="5905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17950" y="3067050"/>
            <a:ext cx="38100" cy="5905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6300" y="3067050"/>
            <a:ext cx="38100" cy="5905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600" y="3810000"/>
            <a:ext cx="38100" cy="5905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17950" y="3810000"/>
            <a:ext cx="38100" cy="5905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26300" y="3810000"/>
            <a:ext cx="38100" cy="5905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600" y="4552950"/>
            <a:ext cx="38100" cy="5905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17950" y="4552950"/>
            <a:ext cx="38100" cy="5905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Contents of the Presentation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2514600"/>
            <a:ext cx="3921062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1. Introduction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6550" y="2514600"/>
            <a:ext cx="3921062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2. Project Objectives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4900" y="2514600"/>
            <a:ext cx="3921249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3. Literature Survey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3257550"/>
            <a:ext cx="3921062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4. Research Gap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46550" y="3257550"/>
            <a:ext cx="3921062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5. Team &amp; Responsibilities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4900" y="3257550"/>
            <a:ext cx="3921249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6. Meeting Details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4000500"/>
            <a:ext cx="3921062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7. Feasibility Analysis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46550" y="4000500"/>
            <a:ext cx="3921062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8. Project Constraints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4900" y="4000500"/>
            <a:ext cx="3921249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9. Safety &amp; Sustainability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4743450"/>
            <a:ext cx="3921062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10. Requirements &amp; Progress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46550" y="4743450"/>
            <a:ext cx="3921062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11.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37494"/>
            <a:ext cx="10972800" cy="723900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251894"/>
            <a:ext cx="10972800" cy="723900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166294"/>
            <a:ext cx="10972800" cy="963810"/>
          </a:xfrm>
          <a:prstGeom prst="roundRect">
            <a:avLst>
              <a:gd name="adj" fmla="val 1185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66094"/>
            <a:ext cx="2667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480494"/>
            <a:ext cx="33337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514850"/>
            <a:ext cx="333375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Introduction of the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5400" y="2572791"/>
            <a:ext cx="10896600" cy="2533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b="0" sz="1425" i="0" u="none">
                <a:solidFill>
                  <a:srgbClr val="334155"/>
                </a:solidFill>
                <a:latin typeface="Plus Jakarta Sans"/>
              </a:rPr>
              <a:t>Access to legal information is restricted by limited awareness, economic constraints, and complex procedures.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62075" y="3487191"/>
            <a:ext cx="9227343" cy="2533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b="0" sz="1425" i="0" u="none">
                <a:solidFill>
                  <a:srgbClr val="334155"/>
                </a:solidFill>
                <a:latin typeface="Plus Jakarta Sans"/>
              </a:rPr>
              <a:t>Users describe legal problems in ordinary language rather than formal legal terminology.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62075" y="4394894"/>
            <a:ext cx="10086975" cy="506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b="0" sz="1425" i="0" u="none">
                <a:solidFill>
                  <a:srgbClr val="334155"/>
                </a:solidFill>
                <a:latin typeface="Plus Jakarta Sans"/>
              </a:rPr>
              <a:t>NyaySetu interprets natural-language queries, categorizes legal concerns, and provides preliminary informational guidance.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209800"/>
            <a:ext cx="3505200" cy="3048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209800"/>
            <a:ext cx="3505200" cy="3048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209800"/>
            <a:ext cx="3505200" cy="3048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12702"/>
            <a:ext cx="28956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2931765"/>
            <a:ext cx="28956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2931765"/>
            <a:ext cx="2895600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Project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" y="3384202"/>
            <a:ext cx="380047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Natural Language Understanding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2450" y="3974752"/>
            <a:ext cx="3619500" cy="6799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85"/>
              </a:lnSpc>
            </a:pPr>
            <a:r>
              <a:rPr b="0" sz="1275" i="0" u="none">
                <a:solidFill>
                  <a:srgbClr val="475569"/>
                </a:solidFill>
                <a:latin typeface="Plus Jakarta Sans"/>
              </a:rPr>
              <a:t>Understand users' legal concerns expressed in everyday language and identify categories.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5762" y="3503265"/>
            <a:ext cx="38004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Preliminary Guidance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86250" y="3855690"/>
            <a:ext cx="3619500" cy="6799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85"/>
              </a:lnSpc>
            </a:pPr>
            <a:r>
              <a:rPr b="0" sz="1275" i="0" u="none">
                <a:solidFill>
                  <a:srgbClr val="475569"/>
                </a:solidFill>
                <a:latin typeface="Plus Jakarta Sans"/>
              </a:rPr>
              <a:t>Provide understandable legal information with appropriate ethical boundaries and disclaimers.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9562" y="3503265"/>
            <a:ext cx="38004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Professional Connection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0050" y="3855690"/>
            <a:ext cx="3619500" cy="6799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85"/>
              </a:lnSpc>
            </a:pPr>
            <a:r>
              <a:rPr b="0" sz="1275" i="0" u="none">
                <a:solidFill>
                  <a:srgbClr val="475569"/>
                </a:solidFill>
                <a:latin typeface="Plus Jakarta Sans"/>
              </a:rPr>
              <a:t>Facilitate access by connecting users with verified lawyers matching relevant specializations.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05050"/>
            <a:ext cx="10972800" cy="838200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295650"/>
            <a:ext cx="10972800" cy="838200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286250"/>
            <a:ext cx="10972800" cy="838200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125075" y="2581275"/>
            <a:ext cx="1266825" cy="28575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325100" y="3571875"/>
            <a:ext cx="1066800" cy="28575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34650" y="4562475"/>
            <a:ext cx="857250" cy="28575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Literature Survey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39375" y="2638425"/>
            <a:ext cx="11334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Plus Jakarta Sans"/>
              </a:rPr>
              <a:t>Foundational 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9400" y="3629025"/>
            <a:ext cx="9334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Plus Jakarta Sans"/>
              </a:rPr>
              <a:t>Transformers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48950" y="4619625"/>
            <a:ext cx="7239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Plus Jakarta Sans"/>
              </a:rPr>
              <a:t>Legal NLP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2495550"/>
            <a:ext cx="802600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Text Classification (Sebastiani, 2002)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2752725"/>
            <a:ext cx="76438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Established foundational machine learning approaches for document categorization.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3486150"/>
            <a:ext cx="845105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BERT &amp; Transformers (Devlin et al., 2019; Vaswani et al., 2017)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3743325"/>
            <a:ext cx="80486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Introduced attention-based architectures improving contextual language understanding.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4476750"/>
            <a:ext cx="788848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Legal-BERT (Chalkidis et al., 2020)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4733925"/>
            <a:ext cx="75128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Domain-specific language representations tailored for legal NLP tasks and corpora.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290762"/>
            <a:ext cx="5372100" cy="1441995"/>
          </a:xfrm>
          <a:prstGeom prst="roundRect">
            <a:avLst>
              <a:gd name="adj" fmla="val 792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290762"/>
            <a:ext cx="5372100" cy="1441995"/>
          </a:xfrm>
          <a:prstGeom prst="roundRect">
            <a:avLst>
              <a:gd name="adj" fmla="val 792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61358"/>
            <a:ext cx="5372100" cy="1215330"/>
          </a:xfrm>
          <a:prstGeom prst="roundRect">
            <a:avLst>
              <a:gd name="adj" fmla="val 940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3961358"/>
            <a:ext cx="5372100" cy="1215330"/>
          </a:xfrm>
          <a:prstGeom prst="roundRect">
            <a:avLst>
              <a:gd name="adj" fmla="val 940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57462"/>
            <a:ext cx="180975" cy="1809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900" y="2557462"/>
            <a:ext cx="228600" cy="1809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900" y="4228058"/>
            <a:ext cx="180975" cy="1809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Research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519362"/>
            <a:ext cx="6450806" cy="228600"/>
          </a:xfrm>
          <a:prstGeom prst="rect">
            <a:avLst/>
          </a:prstGeom>
          <a:noFill/>
        </p:spPr>
        <p:txBody>
          <a:bodyPr wrap="none" lIns="257175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Lack of Workflow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824162"/>
            <a:ext cx="5010150" cy="6799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b="0" sz="1275" i="0" u="none">
                <a:solidFill>
                  <a:srgbClr val="475569"/>
                </a:solidFill>
                <a:latin typeface="Plus Jakarta Sans"/>
              </a:rPr>
              <a:t>Existing tools separate text classification, chats, and consultation instead of uniting them into one coherent workflow.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8900" y="2519362"/>
            <a:ext cx="5753100" cy="228600"/>
          </a:xfrm>
          <a:prstGeom prst="rect">
            <a:avLst/>
          </a:prstGeom>
          <a:noFill/>
        </p:spPr>
        <p:txBody>
          <a:bodyPr wrap="none" lIns="30480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Limited Personalization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900" y="2824162"/>
            <a:ext cx="5010150" cy="4533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b="0" sz="1275" i="0" u="none">
                <a:solidFill>
                  <a:srgbClr val="475569"/>
                </a:solidFill>
                <a:latin typeface="Plus Jakarta Sans"/>
              </a:rPr>
              <a:t>General systems fail to tailor legal information adequately to specific user queries and nuanced contexts.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4189958"/>
            <a:ext cx="6450806" cy="22860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Accessibility Barriers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4494758"/>
            <a:ext cx="5010150" cy="4533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b="0" sz="1275" i="0" u="none">
                <a:solidFill>
                  <a:srgbClr val="475569"/>
                </a:solidFill>
                <a:latin typeface="Plus Jakarta Sans"/>
              </a:rPr>
              <a:t>Complex terminology keeps critical legal knowledge obscure for individuals without formal legal education.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8900" y="4189958"/>
            <a:ext cx="5753100" cy="228600"/>
          </a:xfrm>
          <a:prstGeom prst="rect">
            <a:avLst/>
          </a:prstGeom>
          <a:noFill/>
        </p:spPr>
        <p:txBody>
          <a:bodyPr wrap="none" lIns="257175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Ethical &amp; Trust Boundaries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8900" y="4494758"/>
            <a:ext cx="5010150" cy="4533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b="0" sz="1275" i="0" u="none">
                <a:solidFill>
                  <a:srgbClr val="475569"/>
                </a:solidFill>
                <a:latin typeface="Plus Jakarta Sans"/>
              </a:rPr>
              <a:t>AI platforms require robust privacy safeguards, clear disclaimers, and structured professional oversight.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095500"/>
            <a:ext cx="5334000" cy="3238500"/>
          </a:xfrm>
          <a:prstGeom prst="roundRect">
            <a:avLst>
              <a:gd name="adj" fmla="val 352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095500"/>
            <a:ext cx="5334000" cy="3238500"/>
          </a:xfrm>
          <a:prstGeom prst="roundRect">
            <a:avLst>
              <a:gd name="adj" fmla="val 352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Team Roles &amp; Progress Milestones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3001565"/>
            <a:ext cx="64008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Team Responsibilities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7000" y="3001565"/>
            <a:ext cx="57150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Key Development Phases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2975" y="3393043"/>
            <a:ext cx="8572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" y="3392090"/>
            <a:ext cx="4781550" cy="517921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475569"/>
                </a:solidFill>
                <a:latin typeface="Plus Jakarta Sans"/>
              </a:rPr>
              <a:t>Anupam Kumar Singh:</a:t>
            </a:r>
            <a:r>
              <a:rPr b="0" sz="1275" i="0" u="none">
                <a:solidFill>
                  <a:srgbClr val="475569"/>
                </a:solidFill>
                <a:latin typeface="Plus Jakarta Sans"/>
              </a:rPr>
              <a:t> AI/NLP research &amp; backend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2975" y="3910965"/>
            <a:ext cx="8572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" y="3910012"/>
            <a:ext cx="5857875" cy="25896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475569"/>
                </a:solidFill>
                <a:latin typeface="Plus Jakarta Sans"/>
              </a:rPr>
              <a:t>Akshay Pratap Singh:</a:t>
            </a:r>
            <a:r>
              <a:rPr b="0" sz="1275" i="0" u="none">
                <a:solidFill>
                  <a:srgbClr val="475569"/>
                </a:solidFill>
                <a:latin typeface="Plus Jakarta Sans"/>
              </a:rPr>
              <a:t> Frontend, auth, &amp; lawyer interface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2975" y="4169925"/>
            <a:ext cx="8572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" y="4168973"/>
            <a:ext cx="5857875" cy="25896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475569"/>
                </a:solidFill>
                <a:latin typeface="Plus Jakarta Sans"/>
              </a:rPr>
              <a:t>Prince Kumar:</a:t>
            </a:r>
            <a:r>
              <a:rPr b="0" sz="1275" i="0" u="none">
                <a:solidFill>
                  <a:srgbClr val="475569"/>
                </a:solidFill>
                <a:latin typeface="Plus Jakarta Sans"/>
              </a:rPr>
              <a:t> Database design, testing &amp;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1775" y="3393043"/>
            <a:ext cx="8572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500" y="3392090"/>
            <a:ext cx="5524500" cy="25896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475569"/>
                </a:solidFill>
                <a:latin typeface="Plus Jakarta Sans"/>
              </a:rPr>
              <a:t>Weeks 1-3:</a:t>
            </a:r>
            <a:r>
              <a:rPr b="0" sz="1275" i="0" u="none">
                <a:solidFill>
                  <a:srgbClr val="475569"/>
                </a:solidFill>
                <a:latin typeface="Plus Jakarta Sans"/>
              </a:rPr>
              <a:t> Topic finalization &amp; documentation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1775" y="3652004"/>
            <a:ext cx="8572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7500" y="3651051"/>
            <a:ext cx="5524500" cy="25896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475569"/>
                </a:solidFill>
                <a:latin typeface="Plus Jakarta Sans"/>
              </a:rPr>
              <a:t>Weeks 4-7:</a:t>
            </a:r>
            <a:r>
              <a:rPr b="0" sz="1275" i="0" u="none">
                <a:solidFill>
                  <a:srgbClr val="475569"/>
                </a:solidFill>
                <a:latin typeface="Plus Jakarta Sans"/>
              </a:rPr>
              <a:t> Literature survey &amp; review paper submission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1775" y="3910965"/>
            <a:ext cx="8572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0" y="3910012"/>
            <a:ext cx="4781550" cy="517921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475569"/>
                </a:solidFill>
                <a:latin typeface="Plus Jakarta Sans"/>
              </a:rPr>
              <a:t>Weeks 8-10:</a:t>
            </a:r>
            <a:r>
              <a:rPr b="0" sz="1275" i="0" u="none">
                <a:solidFill>
                  <a:srgbClr val="475569"/>
                </a:solidFill>
                <a:latin typeface="Plus Jakarta Sans"/>
              </a:rPr>
              <a:t> Conference remarks incorporation &amp; system setup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05050"/>
            <a:ext cx="3505200" cy="28575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305050"/>
            <a:ext cx="3505200" cy="28575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305050"/>
            <a:ext cx="3505200" cy="28575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109912"/>
            <a:ext cx="238125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100" y="3109912"/>
            <a:ext cx="19050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0" y="3109912"/>
            <a:ext cx="238125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Feasibility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071812"/>
            <a:ext cx="3900487" cy="238125"/>
          </a:xfrm>
          <a:prstGeom prst="rect">
            <a:avLst/>
          </a:prstGeom>
          <a:noFill/>
        </p:spPr>
        <p:txBody>
          <a:bodyPr wrap="none" lIns="314325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Technical Feasibility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424237"/>
            <a:ext cx="3067050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Plus Jakarta Sans"/>
              </a:rPr>
              <a:t>Built using Python FastAPI, Next.js, and PostgreSQL. Integrates robust NLP classification and authentication modules into a unified workflow.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0100" y="3071812"/>
            <a:ext cx="3900487" cy="23812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Economic Feasibility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0100" y="3424237"/>
            <a:ext cx="3067050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Plus Jakarta Sans"/>
              </a:rPr>
              <a:t>Leverages open-source frameworks, libraries, and existing computing resources to maintain minimal project expenditure.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3900" y="3071812"/>
            <a:ext cx="3848100" cy="238125"/>
          </a:xfrm>
          <a:prstGeom prst="rect">
            <a:avLst/>
          </a:prstGeom>
          <a:noFill/>
        </p:spPr>
        <p:txBody>
          <a:bodyPr wrap="none" lIns="314325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Operational Feasibility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3900" y="3424237"/>
            <a:ext cx="3067050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Plus Jakarta Sans"/>
              </a:rPr>
              <a:t>Structured workflow from registration to legal assistance and lawyer consultation via a clean, intuitive web interface.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62225"/>
            <a:ext cx="5391150" cy="1057275"/>
          </a:xfrm>
          <a:prstGeom prst="roundRect">
            <a:avLst>
              <a:gd name="adj" fmla="val 1081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91250" y="2562225"/>
            <a:ext cx="5391150" cy="1057275"/>
          </a:xfrm>
          <a:prstGeom prst="roundRect">
            <a:avLst>
              <a:gd name="adj" fmla="val 1081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810000"/>
            <a:ext cx="5391150" cy="1057275"/>
          </a:xfrm>
          <a:prstGeom prst="roundRect">
            <a:avLst>
              <a:gd name="adj" fmla="val 1081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3810000"/>
            <a:ext cx="5391150" cy="1057275"/>
          </a:xfrm>
          <a:prstGeom prst="roundRect">
            <a:avLst>
              <a:gd name="adj" fmla="val 1081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Project Constraints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2752725"/>
            <a:ext cx="657582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Implementation Complexity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3028950"/>
            <a:ext cx="51054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Integrating NLP, web apps, and consultation features increases technical overhead.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1750" y="2752725"/>
            <a:ext cx="5810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Data 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1750" y="3028950"/>
            <a:ext cx="51054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Availability of reliable legal datasets and varied user terminology can affect performance.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4000500"/>
            <a:ext cx="657582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Model Dependencies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4276725"/>
            <a:ext cx="51054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Machine-learning models require task-specific training and adequate computational resources.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1750" y="4000500"/>
            <a:ext cx="5810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Evaluation Complexity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1750" y="4276725"/>
            <a:ext cx="51054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Legal assistance requires evaluating reliability, relevance, and ethical standards.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114550"/>
            <a:ext cx="5334000" cy="3238500"/>
          </a:xfrm>
          <a:prstGeom prst="roundRect">
            <a:avLst>
              <a:gd name="adj" fmla="val 470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114550"/>
            <a:ext cx="5334000" cy="3238500"/>
          </a:xfrm>
          <a:prstGeom prst="roundRect">
            <a:avLst>
              <a:gd name="adj" fmla="val 470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55106"/>
            <a:ext cx="476250" cy="476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2755106"/>
            <a:ext cx="476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225" y="2878931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7025" y="2878931"/>
            <a:ext cx="2286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Safety &amp; Sustainability Constraints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756"/>
            <a:ext cx="481965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Plus Jakarta Sans"/>
              </a:rPr>
              <a:t>Ensuring strict data privacy, secure user authentication (JWT), and clear disclaimers that prevent AI output from being misconstrued as binding legal advice.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26718"/>
            <a:ext cx="48196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Plus Jakarta Sans"/>
              </a:rPr>
              <a:t>Mitigating hallucination risks through reliable retrieval and human professional oversight.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200" y="3383756"/>
            <a:ext cx="481965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Plus Jakarta Sans"/>
              </a:rPr>
              <a:t>Optimizing model resource consumption and utilizing efficient open-source infrastructure to minimize computational carbon footprint.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0" y="4226718"/>
            <a:ext cx="48196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Plus Jakarta Sans"/>
              </a:rPr>
              <a:t>Promoting long-term system maintainability and paperless digital legal consultation workflows.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43050" y="2859881"/>
            <a:ext cx="248781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Safety Constraints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81850" y="2859881"/>
            <a:ext cx="3437929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Sustainability Constraints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095500"/>
            <a:ext cx="5334000" cy="3238500"/>
          </a:xfrm>
          <a:prstGeom prst="roundRect">
            <a:avLst>
              <a:gd name="adj" fmla="val 352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095500"/>
            <a:ext cx="5334000" cy="3238500"/>
          </a:xfrm>
          <a:prstGeom prst="roundRect">
            <a:avLst>
              <a:gd name="adj" fmla="val 352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Project Requirements Specifications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3001565"/>
            <a:ext cx="64008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Software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7000" y="3001565"/>
            <a:ext cx="57150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Hardware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2975" y="3393043"/>
            <a:ext cx="8572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" y="3392090"/>
            <a:ext cx="5857875" cy="25896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475569"/>
                </a:solidFill>
                <a:latin typeface="Plus Jakarta Sans"/>
              </a:rPr>
              <a:t>Languages:</a:t>
            </a:r>
            <a:r>
              <a:rPr b="0" sz="1275" i="0" u="none">
                <a:solidFill>
                  <a:srgbClr val="475569"/>
                </a:solidFill>
                <a:latin typeface="Plus Jakarta Sans"/>
              </a:rPr>
              <a:t> Python, TypeScript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2975" y="3652004"/>
            <a:ext cx="8572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" y="3651051"/>
            <a:ext cx="5857875" cy="25896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475569"/>
                </a:solidFill>
                <a:latin typeface="Plus Jakarta Sans"/>
              </a:rPr>
              <a:t>Frameworks:</a:t>
            </a:r>
            <a:r>
              <a:rPr b="0" sz="1275" i="0" u="none">
                <a:solidFill>
                  <a:srgbClr val="475569"/>
                </a:solidFill>
                <a:latin typeface="Plus Jakarta Sans"/>
              </a:rPr>
              <a:t> FastAPI, Next.js / React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2975" y="3910965"/>
            <a:ext cx="8572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" y="3910012"/>
            <a:ext cx="5857875" cy="25896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475569"/>
                </a:solidFill>
                <a:latin typeface="Plus Jakarta Sans"/>
              </a:rPr>
              <a:t>Database:</a:t>
            </a:r>
            <a:r>
              <a:rPr b="0" sz="1275" i="0" u="none">
                <a:solidFill>
                  <a:srgbClr val="475569"/>
                </a:solidFill>
                <a:latin typeface="Plus Jakarta Sans"/>
              </a:rPr>
              <a:t> PostgreSQL (SQLAlchemy ORM)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2975" y="4169925"/>
            <a:ext cx="8572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" y="4168973"/>
            <a:ext cx="5857875" cy="25896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475569"/>
                </a:solidFill>
                <a:latin typeface="Plus Jakarta Sans"/>
              </a:rPr>
              <a:t>Auth &amp; AI:</a:t>
            </a:r>
            <a:r>
              <a:rPr b="0" sz="1275" i="0" u="none">
                <a:solidFill>
                  <a:srgbClr val="475569"/>
                </a:solidFill>
                <a:latin typeface="Plus Jakarta Sans"/>
              </a:rPr>
              <a:t> JWT Tokens, Machine Learning / NLP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1775" y="3393043"/>
            <a:ext cx="8572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7500" y="3392090"/>
            <a:ext cx="5524500" cy="25896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475569"/>
                </a:solidFill>
                <a:latin typeface="Plus Jakarta Sans"/>
              </a:rPr>
              <a:t>Processor:</a:t>
            </a:r>
            <a:r>
              <a:rPr b="0" sz="1275" i="0" u="none">
                <a:solidFill>
                  <a:srgbClr val="475569"/>
                </a:solidFill>
                <a:latin typeface="Plus Jakarta Sans"/>
              </a:rPr>
              <a:t> Intel i5 / Ryzen 5 or equivalent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1775" y="3652004"/>
            <a:ext cx="8572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0" y="3651051"/>
            <a:ext cx="5524500" cy="25896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475569"/>
                </a:solidFill>
                <a:latin typeface="Plus Jakarta Sans"/>
              </a:rPr>
              <a:t>Memory:</a:t>
            </a:r>
            <a:r>
              <a:rPr b="0" sz="1275" i="0" u="none">
                <a:solidFill>
                  <a:srgbClr val="475569"/>
                </a:solidFill>
                <a:latin typeface="Plus Jakarta Sans"/>
              </a:rPr>
              <a:t> Minimum 8 GB, 16 GB recommended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1775" y="3910965"/>
            <a:ext cx="8572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500" y="3910012"/>
            <a:ext cx="5524500" cy="25896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475569"/>
                </a:solidFill>
                <a:latin typeface="Plus Jakarta Sans"/>
              </a:rPr>
              <a:t>Storage:</a:t>
            </a:r>
            <a:r>
              <a:rPr b="0" sz="1275" i="0" u="none">
                <a:solidFill>
                  <a:srgbClr val="475569"/>
                </a:solidFill>
                <a:latin typeface="Plus Jakarta Sans"/>
              </a:rPr>
              <a:t> Minimum 10–20 GB available space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1775" y="4169925"/>
            <a:ext cx="8572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7500" y="4168973"/>
            <a:ext cx="5524500" cy="25896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475569"/>
                </a:solidFill>
                <a:latin typeface="Plus Jakarta Sans"/>
              </a:rPr>
              <a:t>Connectivity:</a:t>
            </a:r>
            <a:r>
              <a:rPr b="0" sz="1275" i="0" u="none">
                <a:solidFill>
                  <a:srgbClr val="475569"/>
                </a:solidFill>
                <a:latin typeface="Plus Jakarta Sans"/>
              </a:rPr>
              <a:t> Stable internet for models &amp; datasets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57450"/>
            <a:ext cx="10972800" cy="723900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371850"/>
            <a:ext cx="10972800" cy="723900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286250"/>
            <a:ext cx="10972800" cy="723900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86050"/>
            <a:ext cx="2667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00450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514850"/>
            <a:ext cx="2667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5400" y="2692747"/>
            <a:ext cx="10896600" cy="2533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b="0" sz="1425" i="0" u="none">
                <a:solidFill>
                  <a:srgbClr val="334155"/>
                </a:solidFill>
                <a:latin typeface="Plus Jakarta Sans"/>
              </a:rPr>
              <a:t>NyaySetu effectively improves legal accessibility by interpreting everyday language queries into formal categories.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3607147"/>
            <a:ext cx="10896600" cy="2533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b="0" sz="1425" i="0" u="none">
                <a:solidFill>
                  <a:srgbClr val="334155"/>
                </a:solidFill>
                <a:latin typeface="Plus Jakarta Sans"/>
              </a:rPr>
              <a:t>Combines user management, NLP guidance, and professional connection while prioritizing safety and sustainability.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5400" y="4521547"/>
            <a:ext cx="10775156" cy="2533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b="0" sz="1425" i="0" u="none">
                <a:solidFill>
                  <a:srgbClr val="334155"/>
                </a:solidFill>
                <a:latin typeface="Plus Jakarta Sans"/>
              </a:rPr>
              <a:t>Provides a strong foundation for further AI integration, comprehensive testing, and project completion.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