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45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9" r:id="rId3"/>
    <p:sldId id="278" r:id="rId4"/>
    <p:sldId id="279" r:id="rId5"/>
    <p:sldId id="300" r:id="rId6"/>
    <p:sldId id="293" r:id="rId7"/>
    <p:sldId id="294" r:id="rId8"/>
    <p:sldId id="304" r:id="rId9"/>
    <p:sldId id="283" r:id="rId10"/>
    <p:sldId id="284" r:id="rId11"/>
    <p:sldId id="298" r:id="rId12"/>
    <p:sldId id="282" r:id="rId13"/>
    <p:sldId id="305" r:id="rId14"/>
    <p:sldId id="301" r:id="rId15"/>
    <p:sldId id="306" r:id="rId16"/>
    <p:sldId id="302" r:id="rId17"/>
    <p:sldId id="307" r:id="rId18"/>
    <p:sldId id="303" r:id="rId19"/>
    <p:sldId id="308" r:id="rId20"/>
    <p:sldId id="28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GAdneU/JiodrV91VFEWaRP9i+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106BEA-346B-4C68-9DD2-DBACC6DBABEC}" v="2" dt="2026-09-15T09:06:35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 Thakur" userId="0e731ad07be98675" providerId="LiveId" clId="{39C9F95C-BECD-4573-9A90-F5B3904D7D5A}"/>
    <pc:docChg chg="undo custSel addSld delSld modSld">
      <pc:chgData name="Anupam Thakur" userId="0e731ad07be98675" providerId="LiveId" clId="{39C9F95C-BECD-4573-9A90-F5B3904D7D5A}" dt="2026-09-17T13:34:42.394" v="44" actId="255"/>
      <pc:docMkLst>
        <pc:docMk/>
      </pc:docMkLst>
      <pc:sldChg chg="modSp mod">
        <pc:chgData name="Anupam Thakur" userId="0e731ad07be98675" providerId="LiveId" clId="{39C9F95C-BECD-4573-9A90-F5B3904D7D5A}" dt="2026-09-17T13:34:42.394" v="44" actId="255"/>
        <pc:sldMkLst>
          <pc:docMk/>
          <pc:sldMk cId="0" sldId="278"/>
        </pc:sldMkLst>
        <pc:spChg chg="mod">
          <ac:chgData name="Anupam Thakur" userId="0e731ad07be98675" providerId="LiveId" clId="{39C9F95C-BECD-4573-9A90-F5B3904D7D5A}" dt="2026-09-17T13:34:42.394" v="44" actId="255"/>
          <ac:spMkLst>
            <pc:docMk/>
            <pc:sldMk cId="0" sldId="27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FAE8E8-D805-C442-2E9C-712F7B1A3A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36133-C247-1127-51B4-879CC9F65E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FA085-388D-4E26-82BC-7AD8761CF3DF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1025D-CB3B-5B50-07C8-742D090FE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DBF1D-ADD4-6121-434C-B09F5E5BD2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0F23E-93F4-414E-A8AE-F6E6F45856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187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4219949"/>
      </p:ext>
    </p:extLst>
  </p:cSld>
  <p:clrMap bg1="lt1" tx1="dk1" bg2="dk2" tx2="lt2" accent1="accent1" accent2="accent2" accent3="accent3" accent4="accent4" accent5="accent5" accent6="accent6" hlink="hlink" folHlink="folHlink"/>
  <p:hf hdr="0" ft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B81F6-36B7-1CB0-7C62-9B958E6B50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E53F6-FA5A-A966-21C1-B0E5C2071A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64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80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/>
        </p:nvSpPr>
        <p:spPr>
          <a:xfrm>
            <a:off x="228600" y="1714320"/>
            <a:ext cx="8856000" cy="106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3200" b="1" i="0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B.Tech</a:t>
            </a:r>
            <a:r>
              <a:rPr lang="en-US" sz="3200" b="1" i="0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Project First - Evaluation</a:t>
            </a:r>
          </a:p>
          <a:p>
            <a:pPr lvl="0" algn="ctr"/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NYAYSETU: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 AI-ASSISTED LEGAL SUGGESTION SYSTEM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 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642960" y="5357880"/>
            <a:ext cx="8077680" cy="10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SCHOOL OF ENGINEERING AND TECHNOLOGY 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September 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714600" y="3575896"/>
            <a:ext cx="5073080" cy="173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Presented by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Anupam Kumar Singh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 (2023305089)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Akshay Pratap Singh (2023409091)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Prince Kumar (2023393156)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5004619" y="3786120"/>
            <a:ext cx="3424781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of:-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5004619" y="4174114"/>
            <a:ext cx="3811534" cy="53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Prof. (Dr.)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Velayudham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Sathiyasuntharam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PT Sans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PT Sans"/>
              </a:rPr>
              <a:t>Professor, CSE</a:t>
            </a:r>
            <a:endParaRPr lang="en-US"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1"/>
          <p:cNvPicPr preferRelativeResize="0"/>
          <p:nvPr/>
        </p:nvPicPr>
        <p:blipFill rotWithShape="1">
          <a:blip r:embed="rId3">
            <a:alphaModFix/>
          </a:blip>
          <a:srcRect l="35533"/>
          <a:stretch/>
        </p:blipFill>
        <p:spPr>
          <a:xfrm>
            <a:off x="2661312" y="0"/>
            <a:ext cx="3935829" cy="171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from guide for the evaluation</a:t>
            </a:r>
          </a:p>
        </p:txBody>
      </p:sp>
    </p:spTree>
    <p:extLst>
      <p:ext uri="{BB962C8B-B14F-4D97-AF65-F5344CB8AC3E}">
        <p14:creationId xmlns:p14="http://schemas.microsoft.com/office/powerpoint/2010/main" val="168619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of the Presentation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1492045"/>
            <a:ext cx="8229600" cy="4849761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&amp; Responsibilities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Details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Constraints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 Specifications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0F195A-E943-727B-1818-BBBA58AD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the project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ECE3D7-35BA-7D09-1DF4-F9DFE6ECB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legal information can be difficult because of limited legal awareness, economic constraints, geographical barriers, and complex legal procedures.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describe their legal problems in ordinary language rather than formal legal terminology.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NyaySetu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interpret natural-language legal concerns, identify relevant legal categories, and provide preliminary informational guidance.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aims to facilitate connection with appropriate legal professionals while maintaining clear ethical boundaries and avoiding the presentation of AI output as legal advice.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84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9366-EA92-FB22-36EB-381343EA1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58C3CB-567C-7D19-CEF2-EBD4BC48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Project Objectives</a:t>
            </a:r>
            <a:endParaRPr lang="en-US" sz="4000" b="1" dirty="0">
              <a:solidFill>
                <a:srgbClr val="000000"/>
              </a:solidFill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819DA-A9CE-FB41-5172-F952678DB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AI-assisted system that can understand users' legal concerns expressed in natural language and identify relevant legal categories.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preliminary and understandable legal-information guidance based on the identified category while maintaining appropriate disclaimers and ethical boundaries.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facilitate access to legal professionals by connecting users with lawyers according to relevant profiles and specializations.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19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F03A-A2DD-8541-1972-EBEF9CA2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39D893-A19D-5405-6688-B31F63244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623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Literature Survey (1/2)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45995-3A27-0BC0-4E6D-A725169EC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BB8D86A8-6EA7-3C5B-35BA-6487689FFE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8519194"/>
              </p:ext>
            </p:extLst>
          </p:nvPr>
        </p:nvGraphicFramePr>
        <p:xfrm>
          <a:off x="304801" y="1288026"/>
          <a:ext cx="8632721" cy="512000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1551">
                  <a:extLst>
                    <a:ext uri="{9D8B030D-6E8A-4147-A177-3AD203B41FA5}">
                      <a16:colId xmlns:a16="http://schemas.microsoft.com/office/drawing/2014/main" val="1210854827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3590942604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3995373658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4243967360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1067606694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4010928804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3261721481"/>
                    </a:ext>
                  </a:extLst>
                </a:gridCol>
              </a:tblGrid>
              <a:tr h="509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Paper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Author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Year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Problem Addressed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Method Used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Key Contribution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Limitation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3155851549"/>
                  </a:ext>
                </a:extLst>
              </a:tr>
              <a:tr h="96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Text Classification: A Survey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Fabrizio Sebastiani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2002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Automatic text categorization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Machine learning classification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Established foundations for text classification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Traditional ML limitations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2088883947"/>
                  </a:ext>
                </a:extLst>
              </a:tr>
              <a:tr h="1120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BERT: Pre-training of Deep Bidirectional Transformers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Devlin et al.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2019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Language understanding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Transformer-based pretraining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Improved contextual language representation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Computational requirements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3875329992"/>
                  </a:ext>
                </a:extLst>
              </a:tr>
              <a:tr h="96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Legal-BERT: The Muppets straight out of Law School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Chalkidis et al.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2020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Legal-domain language understanding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Domain-specific BERT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Improved legal NLP representation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Domain and data dependency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1483330817"/>
                  </a:ext>
                </a:extLst>
              </a:tr>
              <a:tr h="66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Speech and Language Processing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Jurafsky &amp; Martin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2024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NLP and language processing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Statistical and neural NLP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Comprehensive NLP foundations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Broad scope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2324891202"/>
                  </a:ext>
                </a:extLst>
              </a:tr>
              <a:tr h="815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Natural Language Toolkit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Bird, Klein &amp; Loper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2009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NLP processing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Python NLP tools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Practical NLP processing framework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General-purpose NLP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4087996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36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1DD0-E44F-6041-8680-E6400B1E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C887CB-4E22-5F89-3C7A-DFFF95E8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674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Literature Survey (2/2)</a:t>
            </a:r>
            <a:endParaRPr lang="en-IN" sz="4000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52506AF-1468-F852-8113-D0689CC7C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5028410"/>
              </p:ext>
            </p:extLst>
          </p:nvPr>
        </p:nvGraphicFramePr>
        <p:xfrm>
          <a:off x="221227" y="1248696"/>
          <a:ext cx="8701546" cy="52637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43078">
                  <a:extLst>
                    <a:ext uri="{9D8B030D-6E8A-4147-A177-3AD203B41FA5}">
                      <a16:colId xmlns:a16="http://schemas.microsoft.com/office/drawing/2014/main" val="1924056969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223803919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314643521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4097681816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3144470328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2937592841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649339185"/>
                    </a:ext>
                  </a:extLst>
                </a:gridCol>
              </a:tblGrid>
              <a:tr h="459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Paper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Author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Year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Problem Addressed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Method Used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Key Contribution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Limitation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3182287159"/>
                  </a:ext>
                </a:extLst>
              </a:tr>
              <a:tr h="87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A Survey of Legal Text Classification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Legal NLP researchers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—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Classification of legal documents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ML and NLP techniques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Demonstrates applicability of classification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Domain-specific datasets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1363322166"/>
                  </a:ext>
                </a:extLst>
              </a:tr>
              <a:tr h="87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Attention Is All You Need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Vaswani et al.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2017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Sequence modelling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Transformer architecture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Introduced Transformer architecture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High computational requirements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3156052496"/>
                  </a:ext>
                </a:extLst>
              </a:tr>
              <a:tr h="1293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Word2Vec: Efficient Estimation of Word Representations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Mikolov et al.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2013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Word representation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Word embeddings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Distributed semantic representations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Limited contextual understanding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59197216"/>
                  </a:ext>
                </a:extLst>
              </a:tr>
              <a:tr h="876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Legal Text Processing and Classification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Various researchers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—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Legal document analysis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NLP and ML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Supports automated legal text analysis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Data quality challenges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2830614120"/>
                  </a:ext>
                </a:extLst>
              </a:tr>
              <a:tr h="733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Conversational AI Systems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Various researchers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—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Natural-language interaction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Retrieval and generative approaches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Enables conversational assistance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Accuracy and trust concerns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150237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8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FD81A-345D-F042-F0C1-EB4FBB17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324AEB-31C0-4509-363E-CEF6C515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Research Gap</a:t>
            </a:r>
            <a:endParaRPr lang="en-US" sz="4000" b="1" dirty="0">
              <a:solidFill>
                <a:srgbClr val="000000"/>
              </a:solidFill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FF6B6-F7F3-9B61-ADDE-862F006E9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Legal Assistance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Existing approaches often focus separately on legal text classification, conversational systems, or lawyer consultation rather than integrating these components into one accessible workflow.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General legal-information systems may not sufficiently consider the user's specific concern or relevant legal category.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Challenges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Legal information can remain difficult to understand for users without formal legal knowledge.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and Trust Concerns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AI-assisted legal systems require clear boundaries, privacy considerations, disclaimers, and appropriate human professional involvement.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49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C18E5-CF20-F93F-36C6-C9319224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85F8EC-EC85-D9C4-D40A-297C59A2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Team Members &amp; Responsibilities</a:t>
            </a:r>
            <a:endParaRPr lang="en-IN" b="1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FCDEC48-4BB2-665F-4DA3-5E92C9DC2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539307"/>
              </p:ext>
            </p:extLst>
          </p:nvPr>
        </p:nvGraphicFramePr>
        <p:xfrm>
          <a:off x="720213" y="2097522"/>
          <a:ext cx="7703574" cy="335718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1077">
                  <a:extLst>
                    <a:ext uri="{9D8B030D-6E8A-4147-A177-3AD203B41FA5}">
                      <a16:colId xmlns:a16="http://schemas.microsoft.com/office/drawing/2014/main" val="887888302"/>
                    </a:ext>
                  </a:extLst>
                </a:gridCol>
                <a:gridCol w="4982497">
                  <a:extLst>
                    <a:ext uri="{9D8B030D-6E8A-4147-A177-3AD203B41FA5}">
                      <a16:colId xmlns:a16="http://schemas.microsoft.com/office/drawing/2014/main" val="2602054453"/>
                    </a:ext>
                  </a:extLst>
                </a:gridCol>
              </a:tblGrid>
              <a:tr h="585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Member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Responsibility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816229"/>
                  </a:ext>
                </a:extLst>
              </a:tr>
              <a:tr h="103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Anupam Kumar Singh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AI/NLP research, system architecture, backend and AI-assisted legal-information workflow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710793"/>
                  </a:ext>
                </a:extLst>
              </a:tr>
              <a:tr h="585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Akshay Pratap Singh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Frontend development, authentication, user interface and lawyer-side functionality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395784"/>
                  </a:ext>
                </a:extLst>
              </a:tr>
              <a:tr h="103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Prince Kumar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Database design, testing, documentation and system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829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76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6CADB-4E79-1840-90AB-ABD66618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3B4547-F963-8347-8559-32E6BD27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414"/>
          </a:xfrm>
        </p:spPr>
        <p:txBody>
          <a:bodyPr>
            <a:normAutofit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Meeting Details(1/2)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F099E1F-4C9E-93A2-96B2-FC6F3A8AA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2695366"/>
              </p:ext>
            </p:extLst>
          </p:nvPr>
        </p:nvGraphicFramePr>
        <p:xfrm>
          <a:off x="953728" y="1262005"/>
          <a:ext cx="7570839" cy="529794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995949">
                  <a:extLst>
                    <a:ext uri="{9D8B030D-6E8A-4147-A177-3AD203B41FA5}">
                      <a16:colId xmlns:a16="http://schemas.microsoft.com/office/drawing/2014/main" val="98763861"/>
                    </a:ext>
                  </a:extLst>
                </a:gridCol>
                <a:gridCol w="1936955">
                  <a:extLst>
                    <a:ext uri="{9D8B030D-6E8A-4147-A177-3AD203B41FA5}">
                      <a16:colId xmlns:a16="http://schemas.microsoft.com/office/drawing/2014/main" val="1911938671"/>
                    </a:ext>
                  </a:extLst>
                </a:gridCol>
                <a:gridCol w="3637935">
                  <a:extLst>
                    <a:ext uri="{9D8B030D-6E8A-4147-A177-3AD203B41FA5}">
                      <a16:colId xmlns:a16="http://schemas.microsoft.com/office/drawing/2014/main" val="3606133270"/>
                    </a:ext>
                  </a:extLst>
                </a:gridCol>
              </a:tblGrid>
              <a:tr h="309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 / Meeting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71127"/>
                  </a:ext>
                </a:extLst>
              </a:tr>
              <a:tr h="110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26/01/2026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finalized and project workflow planning discussed with mentor.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97136"/>
                  </a:ext>
                </a:extLst>
              </a:tr>
              <a:tr h="838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02/04/2026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Progress, evaluation criteria, and initial documentation preparation reviewed.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610796"/>
                  </a:ext>
                </a:extLst>
              </a:tr>
              <a:tr h="971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05/04/2026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Documents verified; corrections and improvements suggested by mentor.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04718"/>
                  </a:ext>
                </a:extLst>
              </a:tr>
              <a:tr h="971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08/04/2026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 process and related research papers discussed.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603222"/>
                  </a:ext>
                </a:extLst>
              </a:tr>
              <a:tr h="971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15/04/2026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Zeroth evaluation documents reviewed and implementation phase approved.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211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81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5BAC-F399-F030-B1F2-3810553F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538B53-EB44-41CC-D8F0-D5C20C57C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Meeting Details(2/2)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1900D95-A246-3BBE-F4CF-442764EDA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559071"/>
              </p:ext>
            </p:extLst>
          </p:nvPr>
        </p:nvGraphicFramePr>
        <p:xfrm>
          <a:off x="864383" y="1153422"/>
          <a:ext cx="7570839" cy="5515333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995949">
                  <a:extLst>
                    <a:ext uri="{9D8B030D-6E8A-4147-A177-3AD203B41FA5}">
                      <a16:colId xmlns:a16="http://schemas.microsoft.com/office/drawing/2014/main" val="98763861"/>
                    </a:ext>
                  </a:extLst>
                </a:gridCol>
                <a:gridCol w="1936955">
                  <a:extLst>
                    <a:ext uri="{9D8B030D-6E8A-4147-A177-3AD203B41FA5}">
                      <a16:colId xmlns:a16="http://schemas.microsoft.com/office/drawing/2014/main" val="1911938671"/>
                    </a:ext>
                  </a:extLst>
                </a:gridCol>
                <a:gridCol w="3637935">
                  <a:extLst>
                    <a:ext uri="{9D8B030D-6E8A-4147-A177-3AD203B41FA5}">
                      <a16:colId xmlns:a16="http://schemas.microsoft.com/office/drawing/2014/main" val="3606133270"/>
                    </a:ext>
                  </a:extLst>
                </a:gridCol>
              </a:tblGrid>
              <a:tr h="3090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 / Meeting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71127"/>
                  </a:ext>
                </a:extLst>
              </a:tr>
              <a:tr h="110378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20/06/2026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paper discussed with mentor, changes to add Result and Discussion section were suggested.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97136"/>
                  </a:ext>
                </a:extLst>
              </a:tr>
              <a:tr h="8388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27/07/2026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changes in the paper completed and the review paper was submitted.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610796"/>
                  </a:ext>
                </a:extLst>
              </a:tr>
              <a:tr h="97133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10/08/2026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to be made in the paper according to conference remarks were discussed; comparative graph was suggested.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04718"/>
                  </a:ext>
                </a:extLst>
              </a:tr>
              <a:tr h="97133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17/08/2026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changes and comparative graph were completed; modified paper was submitted.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603222"/>
                  </a:ext>
                </a:extLst>
              </a:tr>
              <a:tr h="97133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24/08/2026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implementation approach and further submission of the paper to multiple conferences were discussed.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211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325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077F-8457-4219-C37B-394C904F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3135E8B-FA49-5D88-704C-9C9CAEBE6A0C}"/>
              </a:ext>
            </a:extLst>
          </p:cNvPr>
          <p:cNvSpPr txBox="1"/>
          <p:nvPr/>
        </p:nvSpPr>
        <p:spPr>
          <a:xfrm>
            <a:off x="1508401" y="364453"/>
            <a:ext cx="61271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Analysis(1/2)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274CF-24C9-EFDF-4DF9-A21DF1B77A72}"/>
              </a:ext>
            </a:extLst>
          </p:cNvPr>
          <p:cNvSpPr txBox="1"/>
          <p:nvPr/>
        </p:nvSpPr>
        <p:spPr>
          <a:xfrm>
            <a:off x="647622" y="1161742"/>
            <a:ext cx="82113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developed using Python-based backend and modern web technologies.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processing and machine-learning techniques are available for legal-category identification.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authentication, user-management, lawyer-profile and AI-assisted modules can be developed and integrated into a single workflow.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software, frameworks, libraries and development tools can be used.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computing and development resources can be utilized, keeping additional project costs low.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048106-BD48-DD24-D964-C21E28D67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74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1C5F94-FA40-1921-2905-8753DC603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57225F5-6660-7206-7E9D-6FBFA29B0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2E0498-6EC5-244F-4ED9-3D5FB8445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289578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88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83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36D3E-47C3-0A39-54DA-2AE65EEC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284280-C46D-0BBA-5230-CDD441DC375C}"/>
              </a:ext>
            </a:extLst>
          </p:cNvPr>
          <p:cNvSpPr txBox="1"/>
          <p:nvPr/>
        </p:nvSpPr>
        <p:spPr>
          <a:xfrm>
            <a:off x="1397948" y="355581"/>
            <a:ext cx="67428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Analysis(2/2)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293E0-0850-E226-B0E7-D4E287E1A363}"/>
              </a:ext>
            </a:extLst>
          </p:cNvPr>
          <p:cNvSpPr txBox="1"/>
          <p:nvPr/>
        </p:nvSpPr>
        <p:spPr>
          <a:xfrm>
            <a:off x="663678" y="1281011"/>
            <a:ext cx="8211380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structured workflow from user registration and authentication to legal-information assistance and potential lawyer consultation.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can be presented through a simple web interface for users and legal professionals.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in NLP, machine learning, legal text classification and conversational systems provides sufficient theoretical support.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can be evaluated using suitable classification, usability and system-performance measures.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F75451-D58C-84C5-ADA3-F6AD8ECDE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74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7353C3-B589-A4C9-DFFD-7E69EEF4C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7DEA8FAA-1F62-87C0-82D1-BB2482FF3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2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E76F-FC0A-62E8-A186-C6C955BC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58C445-812E-C67D-2D59-7F78E7C7D1C3}"/>
              </a:ext>
            </a:extLst>
          </p:cNvPr>
          <p:cNvSpPr txBox="1"/>
          <p:nvPr/>
        </p:nvSpPr>
        <p:spPr>
          <a:xfrm>
            <a:off x="663679" y="353181"/>
            <a:ext cx="79407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Constraints(1/2)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F17CF-4EC4-2942-7934-EFD52BF0AD90}"/>
              </a:ext>
            </a:extLst>
          </p:cNvPr>
          <p:cNvSpPr txBox="1"/>
          <p:nvPr/>
        </p:nvSpPr>
        <p:spPr>
          <a:xfrm>
            <a:off x="663679" y="1284830"/>
            <a:ext cx="82113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Constraints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NLP, classification, web application and lawyer-consultation components can increase implementation complexity.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Legal-language processing may require domain-specific data and suitable preprocessing.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processing may require additional computational resources depending on the selected models.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Constraints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suitable and reliable legal datasets may be limited.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in user language, legal terminology and informal descriptions can affect classification performance.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3959FA-B55F-6CA8-4726-1C7EDB09F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74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3622A-562B-C7AA-930C-0237454D1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A923BB7-B1B8-2324-D68E-F98674B54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01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C83C-3049-BB67-D52B-73094F851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8D217B-37B8-20A8-D6CC-B1E16CC203F1}"/>
              </a:ext>
            </a:extLst>
          </p:cNvPr>
          <p:cNvSpPr txBox="1"/>
          <p:nvPr/>
        </p:nvSpPr>
        <p:spPr>
          <a:xfrm>
            <a:off x="663679" y="383640"/>
            <a:ext cx="79407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Constraints(2/2)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83A581-FB8E-D8FC-763F-3D730153BA37}"/>
              </a:ext>
            </a:extLst>
          </p:cNvPr>
          <p:cNvSpPr txBox="1"/>
          <p:nvPr/>
        </p:nvSpPr>
        <p:spPr>
          <a:xfrm>
            <a:off x="663679" y="1464367"/>
            <a:ext cx="82113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Constraints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 models may require task-specific training and adjustment for effective legal-category classification.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of predictions depends on the relevance and quality of the available training data.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Constraints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Legal-information assistance cannot be evaluated using a single metric alone.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performance, response relevance, factual reliability, usability and ethical considerations may require different evaluation approaches.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0486C-FF87-41B2-B9BD-91CB6922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74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CC305-8EA6-B13C-1613-43852B367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457EBC4-703F-2F92-CF22-72C67CEF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1" y="-162916"/>
            <a:ext cx="163004" cy="32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0682" tIns="40341" rIns="80682" bIns="40341" numCol="1" anchor="ctr" anchorCtr="0" compatLnSpc="1">
            <a:prstTxWarp prst="textNoShape">
              <a:avLst/>
            </a:prstTxWarp>
            <a:spAutoFit/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88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1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3E13-BE61-7EAF-EBE4-C2F8A266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35EFBA-D973-B569-BE40-D837B9C31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Project Requirements Specifications</a:t>
            </a:r>
            <a:endParaRPr lang="en-US" sz="4000" b="1" dirty="0">
              <a:solidFill>
                <a:srgbClr val="000000"/>
              </a:solidFill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3CBA66-0953-52E2-F0A8-CA6A562BF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TypeScript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Framework: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/ React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Tool: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Alembic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and Refresh Tokens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AI/NLP: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NLP-based legal classification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Web Development Environment</a:t>
            </a:r>
          </a:p>
          <a:p>
            <a:pPr marL="0" lv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5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8317-C1E0-B91F-BF25-4D75D3653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Project Requirements Specifications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7806A-0069-F896-30FF-28581E88B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i5 /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or equivalent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8 GB, 16 GB recommended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10–20 GB available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Optional, depending on AI model requirements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Stable internet connection for dataset and model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853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7BB6-44A4-F85B-23CE-F881CF10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BBE6CF-3F1D-4D72-1ACB-BB78958A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 (1/2)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1AED45D-1681-5C26-EE2F-0F794D63A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12940"/>
            <a:ext cx="8229600" cy="4100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BF5BDD-2D72-62A3-D750-871C71F0C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2940"/>
            <a:ext cx="8229600" cy="410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56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B8F2-CB6A-7ACD-9199-16ACA26F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 (2/2)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7D296C-73DD-9C87-4853-F2BB7134B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6116"/>
            <a:ext cx="8229600" cy="400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39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11334-BE1D-A0A6-92D2-754C0460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BEC231-8974-7D0B-2865-C46EDFB0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4000" b="1" dirty="0">
              <a:solidFill>
                <a:srgbClr val="000000"/>
              </a:solidFill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8345B-F7A7-6F8B-4DE0-B6147EEC1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NyaySetu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improve access to legal information by allowing users to describe their legal concerns in ordinary language.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combines web-based user management, legal-category identification and AI-assisted informational guidance with access to legal professionals.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focuses on making legal information more accessible while maintaining privacy, disclaimers and appropriate ethical boundaries.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review, system requirements, architecture and initial implementation foundations have been developed, providing a basis for further AI integration, evaluation and project completion.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3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</TotalTime>
  <Words>1328</Words>
  <Application>Microsoft Office PowerPoint</Application>
  <PresentationFormat>On-screen Show (4:3)</PresentationFormat>
  <Paragraphs>232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PowerPoint Presentation</vt:lpstr>
      <vt:lpstr>Approval from guide for the evaluation</vt:lpstr>
      <vt:lpstr>Contents of the Presentation</vt:lpstr>
      <vt:lpstr>Introduction of the project</vt:lpstr>
      <vt:lpstr>Project Objectives</vt:lpstr>
      <vt:lpstr>Literature Survey (1/2)</vt:lpstr>
      <vt:lpstr>Literature Survey (2/2)</vt:lpstr>
      <vt:lpstr>Research Gap</vt:lpstr>
      <vt:lpstr>Team Members &amp; Responsibilities</vt:lpstr>
      <vt:lpstr>Meeting Details(1/2)</vt:lpstr>
      <vt:lpstr>Meeting Details(2/2)</vt:lpstr>
      <vt:lpstr>PowerPoint Presentation</vt:lpstr>
      <vt:lpstr>PowerPoint Presentation</vt:lpstr>
      <vt:lpstr>PowerPoint Presentation</vt:lpstr>
      <vt:lpstr>PowerPoint Presentation</vt:lpstr>
      <vt:lpstr>Project Requirements Specifications</vt:lpstr>
      <vt:lpstr>Project Requirements Specifications</vt:lpstr>
      <vt:lpstr>Project Progress (1/2)</vt:lpstr>
      <vt:lpstr>Project Progress (2/2)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pooja</dc:creator>
  <cp:lastModifiedBy>Anupam Thakur</cp:lastModifiedBy>
  <cp:revision>89</cp:revision>
  <dcterms:created xsi:type="dcterms:W3CDTF">2019-03-30T06:52:13Z</dcterms:created>
  <dcterms:modified xsi:type="dcterms:W3CDTF">2026-09-17T13:34:47Z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21</vt:i4>
  </property>
</Properties>
</file>